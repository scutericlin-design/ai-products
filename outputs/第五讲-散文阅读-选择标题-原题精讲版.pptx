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0" Type="http://schemas.openxmlformats.org/officeDocument/2006/relationships/tableStyles" Target="tableStyles.xml"/><Relationship Id="rId7" Type="http://schemas.openxmlformats.org/officeDocument/2006/relationships/slide" Target="slides/slide4.xml"/><Relationship Id="rId69" Type="http://schemas.openxmlformats.org/officeDocument/2006/relationships/viewProps" Target="viewProps.xml"/><Relationship Id="rId68" Type="http://schemas.openxmlformats.org/officeDocument/2006/relationships/presProps" Target="presProps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新版课件以原题为核心，适合直接带学生逐篇讲。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提示：模板不是直接背，要把省略号换成原文里的证据。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进入一篇材料前，先交代这一篇训练的主问题。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原文页：让学生在纸质资料上圈画，PPT 用于投屏同步。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原文页：让学生在纸质资料上圈画，PPT 用于投屏同步。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先停在题目，让学生口答或写关键词；下一页同版式揭示答案与解析。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先停在题目，让学生口答或写关键词；点击后再揭示答案与解析。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先停在题目，让学生口答或写关键词；点击后再揭示答案与解析。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播放到这里先停顿，不揭示答案；让学生用四维标准先判断。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解析页：把原题答案拆成内容、主题、结构、表达四类。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进入一篇材料前，先交代这一篇训练的主问题。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原文页：让学生在纸质资料上圈画，PPT 用于投屏同步。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原文页：让学生在纸质资料上圈画，PPT 用于投屏同步。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先停在题目，让学生口答或写关键词；下一页同版式揭示答案与解析。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先停在题目，让学生口答或写关键词；点击后再揭示答案与解析。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先停在题目，让学生口答或写关键词；下一页同版式揭示答案与解析。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先停在题目，让学生口答或写关键词；点击后再揭示答案与解析。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先停在题目，让学生口答或写关键词；点击后再揭示答案与解析。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先停在题目，让学生口答或写关键词；下一页同版式揭示答案与解析。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先停在题目，让学生口答或写关键词；点击后再揭示答案与解析。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先停在题目，让学生口答或写关键词；下一页同版式揭示答案与解析。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先停在题目，让学生口答或写关键词；点击后再揭示答案与解析。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先停在题目，让学生口答或写关键词；点击后再揭示答案与解析。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先停在题目，让学生口答或写关键词；点击后再揭示答案与解析。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播放到这里先停顿，不揭示答案；让学生用四维标准先判断。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解析页：把原题答案拆成内容、主题、结构、表达四类。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进入一篇材料前，先交代这一篇训练的主问题。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原文页：让学生在纸质资料上圈画，PPT 用于投屏同步。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原文页：让学生在纸质资料上圈画，PPT 用于投屏同步。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原文页：让学生在纸质资料上圈画，PPT 用于投屏同步。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先停在题目，让学生口答或写关键词；下一页同版式揭示答案与解析。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先停在题目，让学生口答或写关键词；点击后再揭示答案与解析。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先停在题目，让学生口答或写关键词；下一页同版式揭示答案与解析。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先停在题目，让学生口答或写关键词；点击后再揭示答案与解析。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先停在题目，让学生口答或写关键词；点击后再揭示答案与解析。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先停在题目，让学生口答或写关键词；下一页同版式揭示答案与解析。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先停在题目，让学生口答或写关键词；点击后再揭示答案与解析。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先停在题目，让学生口答或写关键词；点击后再揭示答案与解析。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先停在题目，让学生口答或写关键词；点击后再揭示答案与解析。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先停在题目，让学生口答或写关键词；下一页同版式揭示答案与解析。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先停在题目，让学生口答或写关键词；点击后再揭示答案与解析。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先停在题目，让学生口答或写关键词；点击后再揭示答案与解析。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播放到这里先停顿，不揭示答案；让学生用四维标准先判断。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解析页：把原题答案拆成内容、主题、结构、表达四类。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进入一篇材料前，先交代这一篇训练的主问题。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原文页：让学生在纸质资料上圈画，PPT 用于投屏同步。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原文页：让学生在纸质资料上圈画，PPT 用于投屏同步。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原文页：让学生在纸质资料上圈画，PPT 用于投屏同步。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先停在题目，让学生口答或写关键词；下一页同版式揭示答案与解析。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先停在题目，让学生口答或写关键词；点击后再揭示答案与解析。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先停在题目，让学生口答或写关键词；下一页同版式揭示答案与解析。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先停在题目，让学生口答或写关键词；点击后再揭示答案与解析。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先停在题目，让学生口答或写关键词；下一页同版式揭示答案与解析。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先停在题目，让学生口答或写关键词；点击后再揭示答案与解析。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先停在题目，让学生口答或写关键词；点击后再揭示答案与解析。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先停在题目，让学生口答或写关键词；点击后再揭示答案与解析。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先停在题目，让学生口答或写关键词；下一页同版式揭示答案与解析。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先停在题目，让学生口答或写关键词；点击后再揭示答案与解析。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先停在题目，让学生口答或写关键词；点击后再揭示答案与解析。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先停在题目，让学生口答或写关键词；点击后再揭示答案与解析。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先停在题目，让学生口答或写关键词；点击后再揭示答案与解析。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播放到这里先停顿，不揭示答案；让学生用四维标准先判断。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解析页：把原题答案拆成内容、主题、结构、表达四类。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收束：让学生意识到标题题不是背模板，而是回原文找证据。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1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3429000" y="0"/>
            <a:ext cx="95250" cy="685800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7048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027"/>
          </a:bodyPr>
          <a:lstStyle/>
          <a:p>
            <a:pPr algn="l">
              <a:lnSpc>
                <a:spcPct val="115000"/>
              </a:lnSpc>
              <a:buNone/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第五讲</a:t>
            </a:r>
            <a:endParaRPr sz="2100" b="1" i="0">
              <a:solidFill>
                <a:srgbClr val="FFFF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42950" y="1371600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6244"/>
          </a:bodyPr>
          <a:lstStyle/>
          <a:p>
            <a:pPr algn="l">
              <a:lnSpc>
                <a:spcPct val="115000"/>
              </a:lnSpc>
              <a:buNone/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散文阅读</a:t>
            </a:r>
            <a:endParaRPr sz="3450" b="1" i="0">
              <a:solidFill>
                <a:srgbClr val="FFFFF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095750" y="1352550"/>
            <a:ext cx="5905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5362"/>
          </a:bodyPr>
          <a:lstStyle/>
          <a:p>
            <a:pPr algn="l">
              <a:lnSpc>
                <a:spcPct val="115000"/>
              </a:lnSpc>
              <a:buNone/>
              <a:defRPr sz="4500" b="1" i="0">
                <a:solidFill>
                  <a:srgbClr val="1E2426"/>
                </a:solidFill>
              </a:defRPr>
            </a:pPr>
            <a:r>
              <a:rPr sz="4500" b="1" i="0">
                <a:solidFill>
                  <a:srgbClr val="1E2426"/>
                </a:solidFill>
              </a:rPr>
              <a:t>选择标题</a:t>
            </a:r>
            <a:endParaRPr sz="450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143375" y="215265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3430"/>
          </a:bodyPr>
          <a:lstStyle/>
          <a:p>
            <a:pPr algn="l">
              <a:lnSpc>
                <a:spcPct val="115000"/>
              </a:lnSpc>
              <a:buNone/>
              <a:defRPr sz="2250" b="1" i="0">
                <a:solidFill>
                  <a:srgbClr val="C6504A"/>
                </a:solidFill>
              </a:defRPr>
            </a:pPr>
            <a:r>
              <a:rPr sz="2250" b="1" i="0">
                <a:solidFill>
                  <a:srgbClr val="C6504A"/>
                </a:solidFill>
              </a:rPr>
              <a:t>原题精讲版</a:t>
            </a:r>
            <a:endParaRPr sz="2250" b="1" i="0">
              <a:solidFill>
                <a:srgbClr val="C6504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171950" y="5810250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2126"/>
          </a:bodyPr>
          <a:lstStyle/>
          <a:p>
            <a:pPr algn="l">
              <a:lnSpc>
                <a:spcPct val="115000"/>
              </a:lnSpc>
              <a:buNone/>
              <a:defRPr sz="1350" b="0" i="0">
                <a:solidFill>
                  <a:srgbClr val="697276"/>
                </a:solidFill>
              </a:defRPr>
            </a:pPr>
            <a:r>
              <a:rPr sz="1350" b="0" i="0">
                <a:solidFill>
                  <a:srgbClr val="697276"/>
                </a:solidFill>
              </a:rPr>
              <a:t>初三语文 · 散文阅读专题</a:t>
            </a:r>
            <a:endParaRPr sz="1350" b="0" i="0">
              <a:solidFill>
                <a:srgbClr val="69727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0E6B67"/>
                </a:solidFill>
              </a:defRPr>
            </a:pPr>
            <a:r>
              <a:rPr sz="1350" b="1" i="0">
                <a:solidFill>
                  <a:srgbClr val="0E6B67"/>
                </a:solidFill>
              </a:rPr>
              <a:t>标题题通用框架</a:t>
            </a:r>
            <a:endParaRPr sz="1350" b="1" i="0">
              <a:solidFill>
                <a:srgbClr val="0E6B6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03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990600"/>
            <a:ext cx="9239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6909"/>
          </a:bodyPr>
          <a:lstStyle/>
          <a:p>
            <a:pPr algn="l">
              <a:lnSpc>
                <a:spcPct val="105000"/>
              </a:lnSpc>
              <a:buNone/>
              <a:defRPr sz="2850" b="1" i="0">
                <a:solidFill>
                  <a:srgbClr val="1E2426"/>
                </a:solidFill>
              </a:defRPr>
            </a:pPr>
            <a:r>
              <a:rPr sz="2850" b="1" i="0">
                <a:solidFill>
                  <a:srgbClr val="1E2426"/>
                </a:solidFill>
              </a:rPr>
              <a:t>标题 + 理由：理由要回到原文</a:t>
            </a:r>
            <a:endParaRPr sz="28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406"/>
          </a:bodyPr>
          <a:lstStyle/>
          <a:p>
            <a:pPr algn="l">
              <a:lnSpc>
                <a:spcPct val="115000"/>
              </a:lnSpc>
              <a:buNone/>
              <a:defRPr sz="1500" b="0" i="0">
                <a:solidFill>
                  <a:srgbClr val="697276"/>
                </a:solidFill>
              </a:defRPr>
            </a:pPr>
            <a:r>
              <a:rPr sz="1500" b="0" i="0">
                <a:solidFill>
                  <a:srgbClr val="697276"/>
                </a:solidFill>
              </a:rPr>
              <a:t>公式来自原资料，但这次每一步都用原题验证。</a:t>
            </a:r>
            <a:endParaRPr sz="1500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2038350"/>
            <a:ext cx="3143250" cy="0"/>
          </a:xfrm>
          <a:prstGeom prst="line">
            <a:avLst/>
          </a:prstGeom>
          <a:noFill/>
          <a:ln w="28575">
            <a:solidFill>
              <a:srgbClr val="0E6B67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1028700" y="2571750"/>
            <a:ext cx="10134600" cy="1047750"/>
          </a:xfrm>
          <a:prstGeom prst="roundRect">
            <a:avLst>
              <a:gd name="adj" fmla="val 14545"/>
            </a:avLst>
          </a:prstGeom>
          <a:solidFill>
            <a:srgbClr val="DFF1EA"/>
          </a:solidFill>
          <a:ln w="9525">
            <a:solidFill>
              <a:srgbClr val="0E6B6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1466850" y="2895600"/>
            <a:ext cx="914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841"/>
          </a:bodyPr>
          <a:lstStyle/>
          <a:p>
            <a:pPr algn="ctr">
              <a:lnSpc>
                <a:spcPct val="115000"/>
              </a:lnSpc>
              <a:buNone/>
              <a:defRPr sz="2400" b="1" i="0">
                <a:solidFill>
                  <a:srgbClr val="0E6B67"/>
                </a:solidFill>
              </a:defRPr>
            </a:pPr>
            <a:r>
              <a:rPr sz="2400" b="1" i="0">
                <a:solidFill>
                  <a:srgbClr val="0E6B67"/>
                </a:solidFill>
              </a:rPr>
              <a:t>公式：标题 + 理由（标题含义 + 标题作用）</a:t>
            </a:r>
            <a:endParaRPr sz="2400" b="1" i="0">
              <a:solidFill>
                <a:srgbClr val="0E6B67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028700" y="4095750"/>
            <a:ext cx="10134600" cy="1314450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D8D6C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/>
        </p:nvSpPr>
        <p:spPr>
          <a:xfrm>
            <a:off x="1428750" y="4400550"/>
            <a:ext cx="9334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6376"/>
          </a:bodyPr>
          <a:lstStyle/>
          <a:p>
            <a:pPr algn="l">
              <a:lnSpc>
                <a:spcPct val="118000"/>
              </a:lnSpc>
              <a:buNone/>
              <a:defRPr sz="2025" b="0" i="0">
                <a:solidFill>
                  <a:srgbClr val="1E2426"/>
                </a:solidFill>
              </a:defRPr>
            </a:pPr>
            <a:r>
              <a:rPr sz="2025" b="0" i="0">
                <a:solidFill>
                  <a:srgbClr val="1E2426"/>
                </a:solidFill>
              </a:rPr>
              <a:t>选择《XX》。阅读文章可知，文章围绕……展开叙事，以《XX》为题可以表现……内容，具有……作用；相比《YY》，它更……。</a:t>
            </a:r>
            <a:endParaRPr sz="202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6504A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C6504A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C6504A"/>
                </a:solidFill>
              </a:defRPr>
            </a:pPr>
            <a:r>
              <a:rPr sz="1350" b="1" i="0">
                <a:solidFill>
                  <a:srgbClr val="C6504A"/>
                </a:solidFill>
              </a:rPr>
              <a:t>材料一：父亲与乒乓</a:t>
            </a:r>
            <a:endParaRPr sz="1350" b="1" i="0">
              <a:solidFill>
                <a:srgbClr val="C6504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04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238250"/>
            <a:ext cx="666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6875"/>
          </a:bodyPr>
          <a:lstStyle/>
          <a:p>
            <a:pPr algn="l">
              <a:lnSpc>
                <a:spcPct val="115000"/>
              </a:lnSpc>
              <a:buNone/>
              <a:defRPr sz="1725" b="1" i="0">
                <a:solidFill>
                  <a:srgbClr val="C6504A"/>
                </a:solidFill>
              </a:defRPr>
            </a:pPr>
            <a:r>
              <a:rPr sz="1725" b="1" i="0">
                <a:solidFill>
                  <a:srgbClr val="C6504A"/>
                </a:solidFill>
              </a:rPr>
              <a:t>1. （2025秋•杨浦区期末）阅读下文，完成下列各题。</a:t>
            </a:r>
            <a:endParaRPr sz="1725" b="1" i="0">
              <a:solidFill>
                <a:srgbClr val="C6504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23900" y="1790700"/>
            <a:ext cx="8953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904"/>
          </a:bodyPr>
          <a:lstStyle/>
          <a:p>
            <a:pPr algn="l">
              <a:lnSpc>
                <a:spcPct val="108000"/>
              </a:lnSpc>
              <a:buNone/>
              <a:defRPr sz="3150" b="1" i="0">
                <a:solidFill>
                  <a:srgbClr val="1E2426"/>
                </a:solidFill>
              </a:defRPr>
            </a:pPr>
            <a:r>
              <a:rPr sz="3150" b="1" i="0">
                <a:solidFill>
                  <a:srgbClr val="1E2426"/>
                </a:solidFill>
              </a:rPr>
              <a:t>《父亲的乒乓》为什么比《打乒乓的父亲》更能统领全文</a:t>
            </a:r>
            <a:endParaRPr sz="3150" b="1" i="0">
              <a:solidFill>
                <a:srgbClr val="1E2426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990600" y="3333750"/>
            <a:ext cx="9620250" cy="1428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650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10" name="矩形 9"/>
          <p:cNvSpPr>
            <a:spLocks noGrp="1"/>
          </p:cNvSpPr>
          <p:nvPr/>
        </p:nvSpPr>
        <p:spPr>
          <a:xfrm>
            <a:off x="1390650" y="3638550"/>
            <a:ext cx="8763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3559"/>
          </a:bodyPr>
          <a:lstStyle/>
          <a:p>
            <a:pPr marL="0" indent="0">
              <a:lnSpc>
                <a:spcPct val="118000"/>
              </a:lnSpc>
              <a:spcAft>
                <a:spcPts val="5"/>
              </a:spcAft>
              <a:buNone/>
              <a:defRPr sz="1875">
                <a:solidFill>
                  <a:srgbClr val="1E2426"/>
                </a:solidFill>
              </a:defRPr>
            </a:pPr>
            <a:r>
              <a:rPr sz="1875">
                <a:solidFill>
                  <a:srgbClr val="1E2426"/>
                </a:solidFill>
              </a:rPr>
              <a:t>先读原文：圈标题关键词可能对应的内容</a:t>
            </a:r>
            <a:endParaRPr sz="1875">
              <a:solidFill>
                <a:srgbClr val="1E2426"/>
              </a:solidFill>
            </a:endParaRPr>
          </a:p>
          <a:p>
            <a:pPr marL="0" indent="0">
              <a:lnSpc>
                <a:spcPct val="118000"/>
              </a:lnSpc>
              <a:spcAft>
                <a:spcPts val="5"/>
              </a:spcAft>
              <a:buNone/>
              <a:defRPr sz="1875">
                <a:solidFill>
                  <a:srgbClr val="1E2426"/>
                </a:solidFill>
              </a:defRPr>
            </a:pPr>
            <a:r>
              <a:rPr sz="1875">
                <a:solidFill>
                  <a:srgbClr val="1E2426"/>
                </a:solidFill>
              </a:rPr>
              <a:t>再做原题：题目不是孤立训练，解析要回到文章</a:t>
            </a:r>
            <a:endParaRPr sz="1875">
              <a:solidFill>
                <a:srgbClr val="1E2426"/>
              </a:solidFill>
            </a:endParaRPr>
          </a:p>
          <a:p>
            <a:pPr marL="0" indent="0">
              <a:lnSpc>
                <a:spcPct val="118000"/>
              </a:lnSpc>
              <a:spcAft>
                <a:spcPts val="5"/>
              </a:spcAft>
              <a:buNone/>
              <a:defRPr sz="1875">
                <a:solidFill>
                  <a:srgbClr val="1E2426"/>
                </a:solidFill>
              </a:defRPr>
            </a:pPr>
            <a:r>
              <a:rPr sz="1875">
                <a:solidFill>
                  <a:srgbClr val="1E2426"/>
                </a:solidFill>
              </a:rPr>
              <a:t>最后精讲标题题：比较两个标题的内容范围、主题深度和表达效果</a:t>
            </a:r>
            <a:endParaRPr sz="1875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6504A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C6504A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C6504A"/>
                </a:solidFill>
              </a:defRPr>
            </a:pPr>
            <a:r>
              <a:rPr sz="1350" b="1" i="0">
                <a:solidFill>
                  <a:srgbClr val="C6504A"/>
                </a:solidFill>
              </a:rPr>
              <a:t>材料一：父亲与乒乓 · 原文</a:t>
            </a:r>
            <a:endParaRPr sz="1350" b="1" i="0">
              <a:solidFill>
                <a:srgbClr val="C6504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05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819150"/>
            <a:ext cx="923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916"/>
          </a:bodyPr>
          <a:lstStyle/>
          <a:p>
            <a:pPr algn="l">
              <a:lnSpc>
                <a:spcPct val="104000"/>
              </a:lnSpc>
              <a:buNone/>
              <a:defRPr sz="2325" b="1" i="0">
                <a:solidFill>
                  <a:srgbClr val="1E2426"/>
                </a:solidFill>
              </a:defRPr>
            </a:pPr>
            <a:r>
              <a:rPr sz="2325" b="1" i="0">
                <a:solidFill>
                  <a:srgbClr val="1E2426"/>
                </a:solidFill>
              </a:rPr>
              <a:t>原文阅读 1/2</a:t>
            </a:r>
            <a:endParaRPr sz="2325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257300"/>
            <a:ext cx="971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9906"/>
          </a:bodyPr>
          <a:lstStyle/>
          <a:p>
            <a:pPr algn="l">
              <a:lnSpc>
                <a:spcPct val="115000"/>
              </a:lnSpc>
              <a:buNone/>
              <a:defRPr sz="1275" b="0" i="0">
                <a:solidFill>
                  <a:srgbClr val="697276"/>
                </a:solidFill>
              </a:defRPr>
            </a:pPr>
            <a:r>
              <a:rPr sz="1275" b="0" i="0">
                <a:solidFill>
                  <a:srgbClr val="697276"/>
                </a:solidFill>
              </a:rPr>
              <a:t>先完整读材料，再回到题目。读的时候圈标题关键词、反复对象和结尾句。</a:t>
            </a:r>
            <a:endParaRPr sz="127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619250"/>
            <a:ext cx="3143250" cy="0"/>
          </a:xfrm>
          <a:prstGeom prst="line">
            <a:avLst/>
          </a:prstGeom>
          <a:noFill/>
          <a:ln w="28575">
            <a:solidFill>
              <a:srgbClr val="C6504A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742950" y="175260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C6504A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原文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552450" y="2057400"/>
            <a:ext cx="5429250" cy="4248150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9525">
            <a:solidFill>
              <a:srgbClr val="C650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圆角矩形 11"/>
          <p:cNvSpPr>
            <a:spLocks noGrp="1"/>
          </p:cNvSpPr>
          <p:nvPr/>
        </p:nvSpPr>
        <p:spPr>
          <a:xfrm>
            <a:off x="6210300" y="2057400"/>
            <a:ext cx="5429250" cy="4248150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9525">
            <a:solidFill>
              <a:srgbClr val="C650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/>
        </p:nvSpPr>
        <p:spPr>
          <a:xfrm>
            <a:off x="781050" y="2247900"/>
            <a:ext cx="4972050" cy="386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10" b="0" i="0">
                <a:solidFill>
                  <a:srgbClr val="1E2426"/>
                </a:solidFill>
              </a:defRPr>
            </a:pPr>
            <a:r>
              <a:rPr sz="1110" b="0" i="0">
                <a:solidFill>
                  <a:srgbClr val="1E2426"/>
                </a:solidFill>
              </a:rPr>
              <a:t>____________</a:t>
            </a:r>
            <a:endParaRPr sz="1110" b="0" i="0">
              <a:solidFill>
                <a:srgbClr val="1E2426"/>
              </a:solidFill>
            </a:endParaRPr>
          </a:p>
          <a:p>
            <a:endParaRPr sz="1110"/>
          </a:p>
          <a:p>
            <a:pPr algn="l">
              <a:lnSpc>
                <a:spcPct val="108000"/>
              </a:lnSpc>
              <a:buNone/>
              <a:defRPr sz="1110" b="0" i="0">
                <a:solidFill>
                  <a:srgbClr val="1E2426"/>
                </a:solidFill>
              </a:defRPr>
            </a:pPr>
            <a:r>
              <a:rPr sz="1110" b="0" i="0">
                <a:solidFill>
                  <a:srgbClr val="1E2426"/>
                </a:solidFill>
              </a:rPr>
              <a:t>①想念父亲时，脑海里浮现的多半是他打乒乓时的灵活身姿和开心笑容。微闭眼，就看到了那遥远的日子。</a:t>
            </a:r>
            <a:endParaRPr sz="1110" b="0" i="0">
              <a:solidFill>
                <a:srgbClr val="1E2426"/>
              </a:solidFill>
            </a:endParaRPr>
          </a:p>
          <a:p>
            <a:endParaRPr sz="1110"/>
          </a:p>
          <a:p>
            <a:pPr algn="l">
              <a:lnSpc>
                <a:spcPct val="108000"/>
              </a:lnSpc>
              <a:buNone/>
              <a:defRPr sz="1110" b="0" i="0">
                <a:solidFill>
                  <a:srgbClr val="1E2426"/>
                </a:solidFill>
              </a:defRPr>
            </a:pPr>
            <a:r>
              <a:rPr sz="1110" b="0" i="0">
                <a:solidFill>
                  <a:srgbClr val="1E2426"/>
                </a:solidFill>
              </a:rPr>
              <a:t>②镜头定格在上世纪六十年代，父亲手握球拍，如脱兔般敏捷挥拍。侧旋、下旋、上旋，力量很足且落点多变。左挡右攻间，他一眼看穿对手的弱侧，摆出狠抽的架势，却在击打的一刹那，轻轻落板，球无声滑落到对手未防备的一侧。顿时，掌声如雷。这一战，父亲赢得了市卫生系统职工单打冠军。我坐在看台望向父亲，他那时多年轻，戴一副黑框眼镜，意气风发。</a:t>
            </a:r>
            <a:endParaRPr sz="1110" b="0" i="0">
              <a:solidFill>
                <a:srgbClr val="1E2426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38900" y="2247900"/>
            <a:ext cx="4972050" cy="386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10" b="0" i="0">
                <a:solidFill>
                  <a:srgbClr val="1E2426"/>
                </a:solidFill>
              </a:defRPr>
            </a:pPr>
            <a:r>
              <a:rPr sz="1110" b="0" i="0">
                <a:solidFill>
                  <a:srgbClr val="1E2426"/>
                </a:solidFill>
              </a:rPr>
              <a:t>③受父亲影响，我也似有打球天赋。两年级加入校队直接打主力，打败外校选手是常事。一次区级小学大赛，我突然生病，却坚持胜利完赛，老师号召全校队同学以我为标杆。但即便如此，仍每每被父亲打得稀里哗啦。隔着球网，父亲总激动地对我招手：“打我呀，手腕抖动，手指放松，用力！”打完球，他爱拍着我的头说：“你还小，总有一天会赢我的。”</a:t>
            </a:r>
            <a:endParaRPr sz="1110" b="0" i="0">
              <a:solidFill>
                <a:srgbClr val="1E2426"/>
              </a:solidFill>
            </a:endParaRPr>
          </a:p>
          <a:p>
            <a:endParaRPr sz="1110"/>
          </a:p>
          <a:p>
            <a:pPr algn="l">
              <a:lnSpc>
                <a:spcPct val="108000"/>
              </a:lnSpc>
              <a:buNone/>
              <a:defRPr sz="1110" b="0" i="0">
                <a:solidFill>
                  <a:srgbClr val="1E2426"/>
                </a:solidFill>
              </a:defRPr>
            </a:pPr>
            <a:r>
              <a:rPr sz="1110" b="0" i="0">
                <a:solidFill>
                  <a:srgbClr val="1E2426"/>
                </a:solidFill>
              </a:rPr>
              <a:t>④初中毕业那年，父亲遭遇人生困厄，打球的手也骨折了。我被分配到市郊一家几千人的工厂当锻工。整日里情绪阴郁，也不碰乒乓球桌了。大我4岁的师傅姓林，是全厂乒乓冠军。那天，他很生气地质问我：“为什么进厂几年，一直保密自己会打乒乓球？”我道了原委，师傅林只说，打吧，我们车间还缺一个争夺冠军的好手。不出所料，冠军手到擒来。我加入了厂乒乓球队，渐渐感到自己有了向上和积极的情绪——真要感激师傅林。</a:t>
            </a:r>
            <a:endParaRPr sz="1110" b="0" i="0">
              <a:solidFill>
                <a:srgbClr val="1E2426"/>
              </a:solidFill>
            </a:endParaRPr>
          </a:p>
          <a:p>
            <a:endParaRPr sz="1110"/>
          </a:p>
          <a:p>
            <a:pPr algn="l">
              <a:lnSpc>
                <a:spcPct val="108000"/>
              </a:lnSpc>
              <a:buNone/>
              <a:defRPr sz="1110" b="0" i="0">
                <a:solidFill>
                  <a:srgbClr val="1E2426"/>
                </a:solidFill>
              </a:defRPr>
            </a:pPr>
            <a:r>
              <a:rPr sz="1110" b="0" i="0">
                <a:solidFill>
                  <a:srgbClr val="1E2426"/>
                </a:solidFill>
              </a:rPr>
              <a:t>⑤过了好多年，父亲走过了人生的坎坷。一日闲聊，我说师傅林是一座不可逾越的山。竟引来父亲疑惑：“你这师傅那么年轻，只用防守，能独步天下？”“你能打赢他？”我说。那年，父亲已远离乒乓十年，人到五十，廉颇老矣。孰料父亲反应断然：“打他，我行。”</a:t>
            </a:r>
            <a:endParaRPr sz="1110" b="0" i="0">
              <a:solidFill>
                <a:srgbClr val="1E2426"/>
              </a:solidFill>
            </a:endParaRPr>
          </a:p>
          <a:p>
            <a:endParaRPr sz="1110"/>
          </a:p>
          <a:p>
            <a:pPr algn="l">
              <a:lnSpc>
                <a:spcPct val="108000"/>
              </a:lnSpc>
              <a:buNone/>
              <a:defRPr sz="1110" b="0" i="0">
                <a:solidFill>
                  <a:srgbClr val="1E2426"/>
                </a:solidFill>
              </a:defRPr>
            </a:pPr>
            <a:r>
              <a:rPr sz="1110" b="0" i="0">
                <a:solidFill>
                  <a:srgbClr val="1E2426"/>
                </a:solidFill>
              </a:rPr>
              <a:t>⑥那天，约在一个小乒乓馆，观者一圈人。</a:t>
            </a:r>
            <a:endParaRPr sz="1110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6504A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C6504A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C6504A"/>
                </a:solidFill>
              </a:defRPr>
            </a:pPr>
            <a:r>
              <a:rPr sz="1350" b="1" i="0">
                <a:solidFill>
                  <a:srgbClr val="C6504A"/>
                </a:solidFill>
              </a:rPr>
              <a:t>材料一：父亲与乒乓 · 原文</a:t>
            </a:r>
            <a:endParaRPr sz="1350" b="1" i="0">
              <a:solidFill>
                <a:srgbClr val="C6504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06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819150"/>
            <a:ext cx="923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916"/>
          </a:bodyPr>
          <a:lstStyle/>
          <a:p>
            <a:pPr algn="l">
              <a:lnSpc>
                <a:spcPct val="104000"/>
              </a:lnSpc>
              <a:buNone/>
              <a:defRPr sz="2325" b="1" i="0">
                <a:solidFill>
                  <a:srgbClr val="1E2426"/>
                </a:solidFill>
              </a:defRPr>
            </a:pPr>
            <a:r>
              <a:rPr sz="2325" b="1" i="0">
                <a:solidFill>
                  <a:srgbClr val="1E2426"/>
                </a:solidFill>
              </a:rPr>
              <a:t>原文阅读 2/2</a:t>
            </a:r>
            <a:endParaRPr sz="2325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257300"/>
            <a:ext cx="971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9906"/>
          </a:bodyPr>
          <a:lstStyle/>
          <a:p>
            <a:pPr algn="l">
              <a:lnSpc>
                <a:spcPct val="115000"/>
              </a:lnSpc>
              <a:buNone/>
              <a:defRPr sz="1275" b="0" i="0">
                <a:solidFill>
                  <a:srgbClr val="697276"/>
                </a:solidFill>
              </a:defRPr>
            </a:pPr>
            <a:r>
              <a:rPr sz="1275" b="0" i="0">
                <a:solidFill>
                  <a:srgbClr val="697276"/>
                </a:solidFill>
              </a:rPr>
              <a:t>继续读原文，关注材料如何推进内容和主题。</a:t>
            </a:r>
            <a:endParaRPr sz="127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619250"/>
            <a:ext cx="3143250" cy="0"/>
          </a:xfrm>
          <a:prstGeom prst="line">
            <a:avLst/>
          </a:prstGeom>
          <a:noFill/>
          <a:ln w="28575">
            <a:solidFill>
              <a:srgbClr val="C6504A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742950" y="175260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C6504A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原文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552450" y="2057400"/>
            <a:ext cx="5429250" cy="4248150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9525">
            <a:solidFill>
              <a:srgbClr val="C650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圆角矩形 11"/>
          <p:cNvSpPr>
            <a:spLocks noGrp="1"/>
          </p:cNvSpPr>
          <p:nvPr/>
        </p:nvSpPr>
        <p:spPr>
          <a:xfrm>
            <a:off x="6210300" y="2057400"/>
            <a:ext cx="5429250" cy="4248150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9525">
            <a:solidFill>
              <a:srgbClr val="C650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/>
        </p:nvSpPr>
        <p:spPr>
          <a:xfrm>
            <a:off x="781050" y="2247900"/>
            <a:ext cx="4972050" cy="386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10" b="0" i="0">
                <a:solidFill>
                  <a:srgbClr val="1E2426"/>
                </a:solidFill>
              </a:defRPr>
            </a:pPr>
            <a:r>
              <a:rPr sz="1110" b="0" i="0">
                <a:solidFill>
                  <a:srgbClr val="1E2426"/>
                </a:solidFill>
              </a:rPr>
              <a:t>⑦师傅林见到父亲态度恭敬：“前辈，恕有不敬，学习了。”“玩玩啊。”父亲神色轻松。开局，师傅林却不客气，主防，趁父亲不备，几板刁钻反击，奏效。第一局父亲败。第二局，师傅林却成了吊线木偶，跟着球来回奔走，局势倒转。决战局，前半段比分胶着。后半程，一个凌厉的正手球，师傅林救起，身体还未回位，下一板快球又扑来，防守体系瞬间溃破，败了。师傅林下场，鞠躬，“老前辈，高手！”“不敢当！”父亲笑着说。</a:t>
            </a:r>
            <a:endParaRPr sz="1110" b="0" i="0">
              <a:solidFill>
                <a:srgbClr val="1E2426"/>
              </a:solidFill>
            </a:endParaRPr>
          </a:p>
          <a:p>
            <a:endParaRPr sz="1110"/>
          </a:p>
          <a:p>
            <a:pPr algn="l">
              <a:lnSpc>
                <a:spcPct val="108000"/>
              </a:lnSpc>
              <a:buNone/>
              <a:defRPr sz="1110" b="0" i="0">
                <a:solidFill>
                  <a:srgbClr val="1E2426"/>
                </a:solidFill>
              </a:defRPr>
            </a:pPr>
            <a:r>
              <a:rPr sz="1110" b="0" i="0">
                <a:solidFill>
                  <a:srgbClr val="1E2426"/>
                </a:solidFill>
              </a:rPr>
              <a:t>⑧师傅林也输，我怎么赢？我细细琢磨父亲的打法，父亲的球有魔术师的味道，有不按常理出牌的狡黠。我想学。</a:t>
            </a:r>
            <a:endParaRPr sz="1110" b="0" i="0">
              <a:solidFill>
                <a:srgbClr val="1E2426"/>
              </a:solidFill>
            </a:endParaRPr>
          </a:p>
          <a:p>
            <a:endParaRPr sz="1110"/>
          </a:p>
          <a:p>
            <a:pPr algn="l">
              <a:lnSpc>
                <a:spcPct val="108000"/>
              </a:lnSpc>
              <a:buNone/>
              <a:defRPr sz="1110" b="0" i="0">
                <a:solidFill>
                  <a:srgbClr val="1E2426"/>
                </a:solidFill>
              </a:defRPr>
            </a:pPr>
            <a:r>
              <a:rPr sz="1110" b="0" i="0">
                <a:solidFill>
                  <a:srgbClr val="1E2426"/>
                </a:solidFill>
              </a:rPr>
              <a:t>⑨岁月如流。父亲83岁了。我也早已离开了工厂，成了一名记者。</a:t>
            </a:r>
            <a:endParaRPr sz="1110" b="0" i="0">
              <a:solidFill>
                <a:srgbClr val="1E2426"/>
              </a:solidFill>
            </a:endParaRPr>
          </a:p>
          <a:p>
            <a:endParaRPr sz="1110"/>
          </a:p>
          <a:p>
            <a:pPr algn="l">
              <a:lnSpc>
                <a:spcPct val="108000"/>
              </a:lnSpc>
              <a:buNone/>
              <a:defRPr sz="1110" b="0" i="0">
                <a:solidFill>
                  <a:srgbClr val="1E2426"/>
                </a:solidFill>
              </a:defRPr>
            </a:pPr>
            <a:r>
              <a:rPr sz="1110" b="0" i="0">
                <a:solidFill>
                  <a:srgbClr val="1E2426"/>
                </a:solidFill>
              </a:rPr>
              <a:t>⑩那天，在父亲的一再要求下，我们带他去参观世博会的各国展馆。展馆的工作人员都视他为贵宾——如此高龄者来参观，绝少。白天父亲兴致勃勃，傍晚到家，对我说：“带你去个地方练练球，认识我几个朋友。”</a:t>
            </a:r>
            <a:endParaRPr sz="1110" b="0" i="0">
              <a:solidFill>
                <a:srgbClr val="1E2426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38900" y="2247900"/>
            <a:ext cx="4972050" cy="386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10" b="0" i="0">
                <a:solidFill>
                  <a:srgbClr val="1E2426"/>
                </a:solidFill>
              </a:defRPr>
            </a:pPr>
            <a:r>
              <a:rPr sz="1110" b="0" i="0">
                <a:solidFill>
                  <a:srgbClr val="1E2426"/>
                </a:solidFill>
              </a:rPr>
              <a:t>⑪在小区乒乓房，见到一群挥汗如雨的打球者，其中有一个长年拜父亲为师的“球痴”小周。小周小父亲四十多岁。“你家老爷子，十几年前是俱乐部球王，现在是总教头。”小周崇拜父亲，“七八年前，我还没法跟老爷子比赛；直到三年前，我总算可以战而胜之了。”</a:t>
            </a:r>
            <a:endParaRPr sz="1110" b="0" i="0">
              <a:solidFill>
                <a:srgbClr val="1E2426"/>
              </a:solidFill>
            </a:endParaRPr>
          </a:p>
          <a:p>
            <a:endParaRPr sz="1110"/>
          </a:p>
          <a:p>
            <a:pPr algn="l">
              <a:lnSpc>
                <a:spcPct val="108000"/>
              </a:lnSpc>
              <a:buNone/>
              <a:defRPr sz="1110" b="0" i="0">
                <a:solidFill>
                  <a:srgbClr val="1E2426"/>
                </a:solidFill>
              </a:defRPr>
            </a:pPr>
            <a:r>
              <a:rPr sz="1110" b="0" i="0">
                <a:solidFill>
                  <a:srgbClr val="1E2426"/>
                </a:solidFill>
              </a:rPr>
              <a:t>⑫父亲笑着对小周说：“今天我儿子来了，你敢和他对战一场吗？”战了。毫无悬念，我赢了。</a:t>
            </a:r>
            <a:endParaRPr sz="1110" b="0" i="0">
              <a:solidFill>
                <a:srgbClr val="1E2426"/>
              </a:solidFill>
            </a:endParaRPr>
          </a:p>
          <a:p>
            <a:endParaRPr sz="1110"/>
          </a:p>
          <a:p>
            <a:pPr algn="l">
              <a:lnSpc>
                <a:spcPct val="108000"/>
              </a:lnSpc>
              <a:buNone/>
              <a:defRPr sz="1110" b="0" i="0">
                <a:solidFill>
                  <a:srgbClr val="1E2426"/>
                </a:solidFill>
              </a:defRPr>
            </a:pPr>
            <a:r>
              <a:rPr sz="1110" b="0" i="0">
                <a:solidFill>
                  <a:srgbClr val="1E2426"/>
                </a:solidFill>
              </a:rPr>
              <a:t>⑬走在小区的月色里，恍惚间，我又看到了那个戴黑框眼镜的父亲立在球桌边，一记猛抽迎面而来，他笃定地轻移脚步，一板稳健的搓球化解。几个回合后，他突然一个闪击，球化作一道白光，直扑对方空当。“嗒”的一声撞击台面后飞出很远，声音在寂静的场馆里格外清晰。旋即淹没在“好球，好球！”的声浪中。回过神来，我看到父亲冲着我微笑。</a:t>
            </a:r>
            <a:endParaRPr sz="1110" b="0" i="0">
              <a:solidFill>
                <a:srgbClr val="1E2426"/>
              </a:solidFill>
            </a:endParaRPr>
          </a:p>
          <a:p>
            <a:endParaRPr sz="1110"/>
          </a:p>
          <a:p>
            <a:pPr algn="l">
              <a:lnSpc>
                <a:spcPct val="108000"/>
              </a:lnSpc>
              <a:buNone/>
              <a:defRPr sz="1110" b="0" i="0">
                <a:solidFill>
                  <a:srgbClr val="1E2426"/>
                </a:solidFill>
              </a:defRPr>
            </a:pPr>
            <a:r>
              <a:rPr sz="1110" b="0" i="0">
                <a:solidFill>
                  <a:srgbClr val="1E2426"/>
                </a:solidFill>
              </a:rPr>
              <a:t>⑭回到家，我问父亲：“我这么轻而易举赢小周，是不是也算赢了你？”</a:t>
            </a:r>
            <a:endParaRPr sz="1110" b="0" i="0">
              <a:solidFill>
                <a:srgbClr val="1E2426"/>
              </a:solidFill>
            </a:endParaRPr>
          </a:p>
          <a:p>
            <a:endParaRPr sz="1110"/>
          </a:p>
          <a:p>
            <a:pPr algn="l">
              <a:lnSpc>
                <a:spcPct val="108000"/>
              </a:lnSpc>
              <a:buNone/>
              <a:defRPr sz="1110" b="0" i="0">
                <a:solidFill>
                  <a:srgbClr val="1E2426"/>
                </a:solidFill>
              </a:defRPr>
            </a:pPr>
            <a:r>
              <a:rPr sz="1110" b="0" i="0">
                <a:solidFill>
                  <a:srgbClr val="1E2426"/>
                </a:solidFill>
              </a:rPr>
              <a:t>⑮父亲答非所问：“你记牢，打乒乓球，是很好的事。”</a:t>
            </a:r>
            <a:endParaRPr sz="1110" b="0" i="0">
              <a:solidFill>
                <a:srgbClr val="1E2426"/>
              </a:solidFill>
            </a:endParaRPr>
          </a:p>
          <a:p>
            <a:endParaRPr sz="1110"/>
          </a:p>
          <a:p>
            <a:pPr algn="l">
              <a:lnSpc>
                <a:spcPct val="108000"/>
              </a:lnSpc>
              <a:buNone/>
              <a:defRPr sz="1110" b="0" i="0">
                <a:solidFill>
                  <a:srgbClr val="1E2426"/>
                </a:solidFill>
              </a:defRPr>
            </a:pPr>
            <a:r>
              <a:rPr sz="1110" b="0" i="0">
                <a:solidFill>
                  <a:srgbClr val="1E2426"/>
                </a:solidFill>
              </a:rPr>
              <a:t>⑯母亲说，她现在还一直欣赏父亲的一句话：做好人，打坏球。“做好人，打坏球”，蛮哲理的，对吧！</a:t>
            </a:r>
            <a:endParaRPr sz="1110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6504A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C6504A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C6504A"/>
                </a:solidFill>
              </a:defRPr>
            </a:pPr>
            <a:r>
              <a:rPr sz="1350" b="1" i="0">
                <a:solidFill>
                  <a:srgbClr val="C6504A"/>
                </a:solidFill>
              </a:rPr>
              <a:t>材料一：父亲与乒乓 · 原题演练</a:t>
            </a:r>
            <a:endParaRPr sz="1350" b="1" i="0">
              <a:solidFill>
                <a:srgbClr val="C6504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07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1 题：先思考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先看题目，独立判断或写下关键词；下一步再核对答案。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C6504A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C6504A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第1题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C650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（1）结合全文内容，为文章选择合适的标题，并说明理由。（5分）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A打乒乓的父亲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B父亲的乒乓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FCE8E6"/>
          </a:solidFill>
          <a:ln w="9525">
            <a:solidFill>
              <a:srgbClr val="C650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5010150"/>
            <a:ext cx="1005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2754"/>
          </a:bodyPr>
          <a:lstStyle/>
          <a:p>
            <a:pPr algn="ctr">
              <a:lnSpc>
                <a:spcPct val="115000"/>
              </a:lnSpc>
              <a:buNone/>
              <a:defRPr sz="2250" b="1" i="0">
                <a:solidFill>
                  <a:srgbClr val="C6504A"/>
                </a:solidFill>
              </a:defRPr>
            </a:pPr>
            <a:r>
              <a:rPr sz="2250" b="1" i="0">
                <a:solidFill>
                  <a:srgbClr val="C6504A"/>
                </a:solidFill>
              </a:rPr>
              <a:t>下一步显示答案与解析</a:t>
            </a:r>
            <a:endParaRPr sz="2250" b="1" i="0">
              <a:solidFill>
                <a:srgbClr val="C6504A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6504A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C6504A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C6504A"/>
                </a:solidFill>
              </a:defRPr>
            </a:pPr>
            <a:r>
              <a:rPr sz="1350" b="1" i="0">
                <a:solidFill>
                  <a:srgbClr val="C6504A"/>
                </a:solidFill>
              </a:rPr>
              <a:t>材料一：父亲与乒乓 · 原题演练</a:t>
            </a:r>
            <a:endParaRPr sz="1350" b="1" i="0">
              <a:solidFill>
                <a:srgbClr val="C6504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08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1 题：答案解析 1/2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核对答案时，先找原文依据，再看评分表达。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C6504A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C6504A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第1题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C650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（1）结合全文内容，为文章选择合适的标题，并说明理由。（5分）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A打乒乓的父亲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B父亲的乒乓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FCE8E6"/>
          </a:solidFill>
          <a:ln w="9525">
            <a:solidFill>
              <a:srgbClr val="C650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4552950"/>
            <a:ext cx="100584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答案与解析</a:t>
            </a:r>
            <a:endParaRPr sz="1275" b="0" i="0">
              <a:solidFill>
                <a:srgbClr val="1E2426"/>
              </a:solidFill>
            </a:endParaRPr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选择B：文章叙写了父亲从青年、中年到老年和“我”从少年到中年的人生经历。“乒乓”是贯穿全文的线索,串起了两代人的人生,也是父子间情感的纽带。父亲借“乒乓”培养我敢于拼搏、睿智豁达的人生态度。“父亲的乒乓”饱含“我”对于父亲的钦佩和感激之情。如以“打乒乓的父亲”为题,文中写“我”的成长经历的文字内容就显得累赘。（5分）</a:t>
            </a:r>
            <a:endParaRPr sz="127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6504A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C6504A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C6504A"/>
                </a:solidFill>
              </a:defRPr>
            </a:pPr>
            <a:r>
              <a:rPr sz="1350" b="1" i="0">
                <a:solidFill>
                  <a:srgbClr val="C6504A"/>
                </a:solidFill>
              </a:rPr>
              <a:t>材料一：父亲与乒乓 · 原题演练</a:t>
            </a:r>
            <a:endParaRPr sz="1350" b="1" i="0">
              <a:solidFill>
                <a:srgbClr val="C6504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09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1 题：答案解析 2/2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继续核对本题解析，区分原文依据和得分表达。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C6504A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C6504A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第1题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C650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（1）结合全文内容，为文章选择合适的标题，并说明理由。（5分）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A打乒乓的父亲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B父亲的乒乓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FCE8E6"/>
          </a:solidFill>
          <a:ln w="9525">
            <a:solidFill>
              <a:srgbClr val="C650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4552950"/>
            <a:ext cx="100584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答案与解析</a:t>
            </a:r>
            <a:endParaRPr sz="1275" b="0" i="0">
              <a:solidFill>
                <a:srgbClr val="1E2426"/>
              </a:solidFill>
            </a:endParaRPr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选择A：文章围绕打乒乓球,叙写了父亲从青年到老年的人生经历。从打球中父亲领到人生真谛,以积极豁达的态度来面对人生困厄。父亲也把这种生活态度通过“打乒乓”传递给“我”。“打乒乓的父亲”,题目质朴,表达了“我”对他的钦佩、感激之情。（3分）</a:t>
            </a:r>
            <a:endParaRPr sz="127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6504A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C6504A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C6504A"/>
                </a:solidFill>
              </a:defRPr>
            </a:pPr>
            <a:r>
              <a:rPr sz="1350" b="1" i="0">
                <a:solidFill>
                  <a:srgbClr val="C6504A"/>
                </a:solidFill>
              </a:rPr>
              <a:t>材料一：父亲与乒乓 · 标题题</a:t>
            </a:r>
            <a:endParaRPr sz="1350" b="1" i="0">
              <a:solidFill>
                <a:srgbClr val="C6504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10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990600"/>
            <a:ext cx="9239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6909"/>
          </a:bodyPr>
          <a:lstStyle/>
          <a:p>
            <a:pPr algn="l">
              <a:lnSpc>
                <a:spcPct val="105000"/>
              </a:lnSpc>
              <a:buNone/>
              <a:defRPr sz="2850" b="1" i="0">
                <a:solidFill>
                  <a:srgbClr val="1E2426"/>
                </a:solidFill>
              </a:defRPr>
            </a:pPr>
            <a:r>
              <a:rPr sz="2850" b="1" i="0">
                <a:solidFill>
                  <a:srgbClr val="1E2426"/>
                </a:solidFill>
              </a:rPr>
              <a:t>标题题先判断，不急着看解析</a:t>
            </a:r>
            <a:endParaRPr sz="28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406"/>
          </a:bodyPr>
          <a:lstStyle/>
          <a:p>
            <a:pPr algn="l">
              <a:lnSpc>
                <a:spcPct val="115000"/>
              </a:lnSpc>
              <a:buNone/>
              <a:defRPr sz="1500" b="0" i="0">
                <a:solidFill>
                  <a:srgbClr val="697276"/>
                </a:solidFill>
              </a:defRPr>
            </a:pPr>
            <a:r>
              <a:rPr sz="1500" b="0" i="0">
                <a:solidFill>
                  <a:srgbClr val="697276"/>
                </a:solidFill>
              </a:rPr>
              <a:t>请学生先选，再说出一个文本依据。</a:t>
            </a:r>
            <a:endParaRPr sz="1500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2038350"/>
            <a:ext cx="3143250" cy="0"/>
          </a:xfrm>
          <a:prstGeom prst="line">
            <a:avLst/>
          </a:prstGeom>
          <a:noFill/>
          <a:ln w="28575">
            <a:solidFill>
              <a:srgbClr val="C6504A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1257300" y="2895600"/>
            <a:ext cx="4476750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650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圆角矩形 10"/>
          <p:cNvSpPr>
            <a:spLocks noGrp="1"/>
          </p:cNvSpPr>
          <p:nvPr/>
        </p:nvSpPr>
        <p:spPr>
          <a:xfrm>
            <a:off x="1485900" y="3190875"/>
            <a:ext cx="609600" cy="323850"/>
          </a:xfrm>
          <a:prstGeom prst="roundRect">
            <a:avLst>
              <a:gd name="adj" fmla="val 50000"/>
            </a:avLst>
          </a:prstGeom>
          <a:solidFill>
            <a:srgbClr val="C6504A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305050" y="310515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027"/>
          </a:bodyPr>
          <a:lstStyle/>
          <a:p>
            <a:pPr algn="ctr">
              <a:lnSpc>
                <a:spcPct val="115000"/>
              </a:lnSpc>
              <a:buNone/>
              <a:defRPr sz="2100" b="1" i="0">
                <a:solidFill>
                  <a:srgbClr val="1E2426"/>
                </a:solidFill>
              </a:defRPr>
            </a:pPr>
            <a:r>
              <a:rPr sz="2100" b="1" i="0">
                <a:solidFill>
                  <a:srgbClr val="1E2426"/>
                </a:solidFill>
              </a:rPr>
              <a:t>打乒乓的父亲</a:t>
            </a:r>
            <a:endParaRPr sz="2100" b="1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305550" y="2895600"/>
            <a:ext cx="4476750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E6B6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圆角矩形 13"/>
          <p:cNvSpPr>
            <a:spLocks noGrp="1"/>
          </p:cNvSpPr>
          <p:nvPr/>
        </p:nvSpPr>
        <p:spPr>
          <a:xfrm>
            <a:off x="6534150" y="3190875"/>
            <a:ext cx="609600" cy="323850"/>
          </a:xfrm>
          <a:prstGeom prst="roundRect">
            <a:avLst>
              <a:gd name="adj" fmla="val 50000"/>
            </a:avLst>
          </a:prstGeom>
          <a:solidFill>
            <a:srgbClr val="0E6B67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353300" y="310515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027"/>
          </a:bodyPr>
          <a:lstStyle/>
          <a:p>
            <a:pPr algn="ctr">
              <a:lnSpc>
                <a:spcPct val="115000"/>
              </a:lnSpc>
              <a:buNone/>
              <a:defRPr sz="2100" b="1" i="0">
                <a:solidFill>
                  <a:srgbClr val="1E2426"/>
                </a:solidFill>
              </a:defRPr>
            </a:pPr>
            <a:r>
              <a:rPr sz="2100" b="1" i="0">
                <a:solidFill>
                  <a:srgbClr val="1E2426"/>
                </a:solidFill>
              </a:rPr>
              <a:t>父亲的乒乓</a:t>
            </a:r>
            <a:endParaRPr sz="2100" b="1" i="0">
              <a:solidFill>
                <a:srgbClr val="1E2426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1962150" y="4743450"/>
            <a:ext cx="8267700" cy="800100"/>
          </a:xfrm>
          <a:prstGeom prst="roundRect">
            <a:avLst>
              <a:gd name="adj" fmla="val 19048"/>
            </a:avLst>
          </a:prstGeom>
          <a:solidFill>
            <a:srgbClr val="E7ECF7"/>
          </a:solidFill>
          <a:ln w="9525">
            <a:solidFill>
              <a:srgbClr val="C650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矩形 16"/>
          <p:cNvSpPr>
            <a:spLocks noGrp="1"/>
          </p:cNvSpPr>
          <p:nvPr/>
        </p:nvSpPr>
        <p:spPr>
          <a:xfrm>
            <a:off x="2362200" y="4972050"/>
            <a:ext cx="752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725"/>
          </a:bodyPr>
          <a:lstStyle/>
          <a:p>
            <a:pPr algn="ctr">
              <a:lnSpc>
                <a:spcPct val="115000"/>
              </a:lnSpc>
              <a:buNone/>
              <a:defRPr sz="1875" b="1" i="0">
                <a:solidFill>
                  <a:srgbClr val="C6504A"/>
                </a:solidFill>
              </a:defRPr>
            </a:pPr>
            <a:r>
              <a:rPr sz="1875" b="1" i="0">
                <a:solidFill>
                  <a:srgbClr val="C6504A"/>
                </a:solidFill>
              </a:rPr>
              <a:t>先选：哪个标题更能罩住父亲、我和两代人的情感？</a:t>
            </a:r>
            <a:endParaRPr sz="1875" b="1" i="0">
              <a:solidFill>
                <a:srgbClr val="C6504A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6504A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C6504A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C6504A"/>
                </a:solidFill>
              </a:defRPr>
            </a:pPr>
            <a:r>
              <a:rPr sz="1350" b="1" i="0">
                <a:solidFill>
                  <a:srgbClr val="C6504A"/>
                </a:solidFill>
              </a:rPr>
              <a:t>材料一：父亲与乒乓 · 标题题解析</a:t>
            </a:r>
            <a:endParaRPr sz="1350" b="1" i="0">
              <a:solidFill>
                <a:srgbClr val="C6504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11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990600"/>
            <a:ext cx="9239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6909"/>
          </a:bodyPr>
          <a:lstStyle/>
          <a:p>
            <a:pPr algn="l">
              <a:lnSpc>
                <a:spcPct val="105000"/>
              </a:lnSpc>
              <a:buNone/>
              <a:defRPr sz="2850" b="1" i="0">
                <a:solidFill>
                  <a:srgbClr val="1E2426"/>
                </a:solidFill>
              </a:defRPr>
            </a:pPr>
            <a:r>
              <a:rPr sz="2850" b="1" i="0">
                <a:solidFill>
                  <a:srgbClr val="1E2426"/>
                </a:solidFill>
              </a:rPr>
              <a:t>解析：B 的优势在“线索”和“传承”</a:t>
            </a:r>
            <a:endParaRPr sz="28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406"/>
          </a:bodyPr>
          <a:lstStyle/>
          <a:p>
            <a:pPr algn="l">
              <a:lnSpc>
                <a:spcPct val="115000"/>
              </a:lnSpc>
              <a:buNone/>
              <a:defRPr sz="1500" b="0" i="0">
                <a:solidFill>
                  <a:srgbClr val="697276"/>
                </a:solidFill>
              </a:defRPr>
            </a:pPr>
            <a:r>
              <a:rPr sz="1500" b="0" i="0">
                <a:solidFill>
                  <a:srgbClr val="697276"/>
                </a:solidFill>
              </a:rPr>
              <a:t>A 能概括父亲，B 更能概括父子两代人的人生经历。</a:t>
            </a:r>
            <a:endParaRPr sz="1500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2038350"/>
            <a:ext cx="3143250" cy="0"/>
          </a:xfrm>
          <a:prstGeom prst="line">
            <a:avLst/>
          </a:prstGeom>
          <a:noFill/>
          <a:ln w="28575">
            <a:solidFill>
              <a:srgbClr val="C6504A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76300" y="2609850"/>
            <a:ext cx="4572000" cy="990600"/>
          </a:xfrm>
          <a:prstGeom prst="roundRect">
            <a:avLst>
              <a:gd name="adj" fmla="val 15385"/>
            </a:avLst>
          </a:prstGeom>
          <a:solidFill>
            <a:srgbClr val="DFF1EA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1104900" y="27813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1594"/>
          </a:bodyPr>
          <a:lstStyle/>
          <a:p>
            <a:pPr algn="l">
              <a:lnSpc>
                <a:spcPct val="115000"/>
              </a:lnSpc>
              <a:buNone/>
              <a:defRPr sz="1800" b="1" i="0">
                <a:solidFill>
                  <a:srgbClr val="C6504A"/>
                </a:solidFill>
              </a:defRPr>
            </a:pPr>
            <a:r>
              <a:rPr sz="1800" b="1" i="0">
                <a:solidFill>
                  <a:srgbClr val="C6504A"/>
                </a:solidFill>
              </a:rPr>
              <a:t>内容</a:t>
            </a:r>
            <a:endParaRPr sz="1800" b="1" i="0">
              <a:solidFill>
                <a:srgbClr val="C6504A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190750" y="280035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859"/>
          </a:bodyPr>
          <a:lstStyle/>
          <a:p>
            <a:pPr algn="l">
              <a:lnSpc>
                <a:spcPct val="118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父亲从青年到老年，“我”从少年到中年，都围绕乒乓展开。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096000" y="2609850"/>
            <a:ext cx="4572000" cy="990600"/>
          </a:xfrm>
          <a:prstGeom prst="roundRect">
            <a:avLst>
              <a:gd name="adj" fmla="val 15385"/>
            </a:avLst>
          </a:prstGeom>
          <a:solidFill>
            <a:srgbClr val="E7ECF7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6324600" y="27813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1594"/>
          </a:bodyPr>
          <a:lstStyle/>
          <a:p>
            <a:pPr algn="l">
              <a:lnSpc>
                <a:spcPct val="115000"/>
              </a:lnSpc>
              <a:buNone/>
              <a:defRPr sz="1800" b="1" i="0">
                <a:solidFill>
                  <a:srgbClr val="0E6B67"/>
                </a:solidFill>
              </a:defRPr>
            </a:pPr>
            <a:r>
              <a:rPr sz="1800" b="1" i="0">
                <a:solidFill>
                  <a:srgbClr val="0E6B67"/>
                </a:solidFill>
              </a:rPr>
              <a:t>线索</a:t>
            </a:r>
            <a:endParaRPr sz="1800" b="1" i="0">
              <a:solidFill>
                <a:srgbClr val="0E6B67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410450" y="280035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859"/>
          </a:bodyPr>
          <a:lstStyle/>
          <a:p>
            <a:pPr algn="l">
              <a:lnSpc>
                <a:spcPct val="118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“乒乓”贯穿全文，串起父亲、我、师傅林和小周。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76300" y="4000500"/>
            <a:ext cx="4572000" cy="990600"/>
          </a:xfrm>
          <a:prstGeom prst="roundRect">
            <a:avLst>
              <a:gd name="adj" fmla="val 15385"/>
            </a:avLst>
          </a:prstGeom>
          <a:solidFill>
            <a:srgbClr val="FFF0CF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矩形 16"/>
          <p:cNvSpPr>
            <a:spLocks noGrp="1"/>
          </p:cNvSpPr>
          <p:nvPr/>
        </p:nvSpPr>
        <p:spPr>
          <a:xfrm>
            <a:off x="1104900" y="417195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1594"/>
          </a:bodyPr>
          <a:lstStyle/>
          <a:p>
            <a:pPr algn="l">
              <a:lnSpc>
                <a:spcPct val="115000"/>
              </a:lnSpc>
              <a:buNone/>
              <a:defRPr sz="1800" b="1" i="0">
                <a:solidFill>
                  <a:srgbClr val="C98928"/>
                </a:solidFill>
              </a:defRPr>
            </a:pPr>
            <a:r>
              <a:rPr sz="1800" b="1" i="0">
                <a:solidFill>
                  <a:srgbClr val="C98928"/>
                </a:solidFill>
              </a:rPr>
              <a:t>主题</a:t>
            </a:r>
            <a:endParaRPr sz="1800" b="1" i="0">
              <a:solidFill>
                <a:srgbClr val="C98928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190750" y="419100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859"/>
          </a:bodyPr>
          <a:lstStyle/>
          <a:p>
            <a:pPr algn="l">
              <a:lnSpc>
                <a:spcPct val="118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父亲借乒乓传递敢拼搏、睿智豁达的人生态度。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096000" y="4000500"/>
            <a:ext cx="4572000" cy="990600"/>
          </a:xfrm>
          <a:prstGeom prst="roundRect">
            <a:avLst>
              <a:gd name="adj" fmla="val 15385"/>
            </a:avLst>
          </a:prstGeom>
          <a:solidFill>
            <a:srgbClr val="F0E7F3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0" name="矩形 19"/>
          <p:cNvSpPr>
            <a:spLocks noGrp="1"/>
          </p:cNvSpPr>
          <p:nvPr/>
        </p:nvSpPr>
        <p:spPr>
          <a:xfrm>
            <a:off x="6324600" y="417195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1594"/>
          </a:bodyPr>
          <a:lstStyle/>
          <a:p>
            <a:pPr algn="l">
              <a:lnSpc>
                <a:spcPct val="115000"/>
              </a:lnSpc>
              <a:buNone/>
              <a:defRPr sz="1800" b="1" i="0">
                <a:solidFill>
                  <a:srgbClr val="6B4E71"/>
                </a:solidFill>
              </a:defRPr>
            </a:pPr>
            <a:r>
              <a:rPr sz="1800" b="1" i="0">
                <a:solidFill>
                  <a:srgbClr val="6B4E71"/>
                </a:solidFill>
              </a:rPr>
              <a:t>比较</a:t>
            </a:r>
            <a:endParaRPr sz="1800" b="1" i="0">
              <a:solidFill>
                <a:srgbClr val="6B4E71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410450" y="419100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859"/>
          </a:bodyPr>
          <a:lstStyle/>
          <a:p>
            <a:pPr algn="l">
              <a:lnSpc>
                <a:spcPct val="118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《打乒乓的父亲》范围偏窄，容易让“我”的成长显得多余。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352550" y="5657850"/>
            <a:ext cx="9486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6221"/>
          </a:bodyPr>
          <a:lstStyle/>
          <a:p>
            <a:pPr algn="ctr">
              <a:lnSpc>
                <a:spcPct val="115000"/>
              </a:lnSpc>
              <a:buNone/>
              <a:defRPr sz="2025" b="1" i="0">
                <a:solidFill>
                  <a:srgbClr val="C6504A"/>
                </a:solidFill>
              </a:defRPr>
            </a:pPr>
            <a:r>
              <a:rPr sz="2025" b="1" i="0">
                <a:solidFill>
                  <a:srgbClr val="C6504A"/>
                </a:solidFill>
              </a:rPr>
              <a:t>这题要告诉学生：不是 A 完全错，而是 B 的覆盖面和主题更完整。</a:t>
            </a:r>
            <a:endParaRPr sz="2025" b="1" i="0">
              <a:solidFill>
                <a:srgbClr val="C6504A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0E6B67"/>
                </a:solidFill>
              </a:defRPr>
            </a:pPr>
            <a:r>
              <a:rPr sz="1350" b="1" i="0">
                <a:solidFill>
                  <a:srgbClr val="0E6B67"/>
                </a:solidFill>
              </a:rPr>
              <a:t>材料二：千年古村</a:t>
            </a:r>
            <a:endParaRPr sz="1350" b="1" i="0">
              <a:solidFill>
                <a:srgbClr val="0E6B6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12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238250"/>
            <a:ext cx="666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6875"/>
          </a:bodyPr>
          <a:lstStyle/>
          <a:p>
            <a:pPr algn="l">
              <a:lnSpc>
                <a:spcPct val="115000"/>
              </a:lnSpc>
              <a:buNone/>
              <a:defRPr sz="1725" b="1" i="0">
                <a:solidFill>
                  <a:srgbClr val="0E6B67"/>
                </a:solidFill>
              </a:defRPr>
            </a:pPr>
            <a:r>
              <a:rPr sz="1725" b="1" i="0">
                <a:solidFill>
                  <a:srgbClr val="0E6B67"/>
                </a:solidFill>
              </a:rPr>
              <a:t>2. （2025秋•天河区期末）阅读回答问题。</a:t>
            </a:r>
            <a:endParaRPr sz="1725" b="1" i="0">
              <a:solidFill>
                <a:srgbClr val="0E6B67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23900" y="1790700"/>
            <a:ext cx="8953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8000"/>
              </a:lnSpc>
              <a:buNone/>
              <a:defRPr sz="3150" b="1" i="0">
                <a:solidFill>
                  <a:srgbClr val="1E2426"/>
                </a:solidFill>
              </a:defRPr>
            </a:pPr>
            <a:r>
              <a:rPr sz="3150" b="1" i="0">
                <a:solidFill>
                  <a:srgbClr val="1E2426"/>
                </a:solidFill>
              </a:rPr>
              <a:t>标题要同时罩住古村遗存、乡风工艺和焕新发展</a:t>
            </a:r>
            <a:endParaRPr sz="3150" b="1" i="0">
              <a:solidFill>
                <a:srgbClr val="1E2426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990600" y="3333750"/>
            <a:ext cx="9620250" cy="1428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E6B6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10" name="矩形 9"/>
          <p:cNvSpPr>
            <a:spLocks noGrp="1"/>
          </p:cNvSpPr>
          <p:nvPr/>
        </p:nvSpPr>
        <p:spPr>
          <a:xfrm>
            <a:off x="1390650" y="3638550"/>
            <a:ext cx="8763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3559"/>
          </a:bodyPr>
          <a:lstStyle/>
          <a:p>
            <a:pPr marL="0" indent="0">
              <a:lnSpc>
                <a:spcPct val="118000"/>
              </a:lnSpc>
              <a:spcAft>
                <a:spcPts val="5"/>
              </a:spcAft>
              <a:buNone/>
              <a:defRPr sz="1875">
                <a:solidFill>
                  <a:srgbClr val="1E2426"/>
                </a:solidFill>
              </a:defRPr>
            </a:pPr>
            <a:r>
              <a:rPr sz="1875">
                <a:solidFill>
                  <a:srgbClr val="1E2426"/>
                </a:solidFill>
              </a:rPr>
              <a:t>先读原文：圈标题关键词可能对应的内容</a:t>
            </a:r>
            <a:endParaRPr sz="1875">
              <a:solidFill>
                <a:srgbClr val="1E2426"/>
              </a:solidFill>
            </a:endParaRPr>
          </a:p>
          <a:p>
            <a:pPr marL="0" indent="0">
              <a:lnSpc>
                <a:spcPct val="118000"/>
              </a:lnSpc>
              <a:spcAft>
                <a:spcPts val="5"/>
              </a:spcAft>
              <a:buNone/>
              <a:defRPr sz="1875">
                <a:solidFill>
                  <a:srgbClr val="1E2426"/>
                </a:solidFill>
              </a:defRPr>
            </a:pPr>
            <a:r>
              <a:rPr sz="1875">
                <a:solidFill>
                  <a:srgbClr val="1E2426"/>
                </a:solidFill>
              </a:rPr>
              <a:t>再做原题：题目不是孤立训练，解析要回到文章</a:t>
            </a:r>
            <a:endParaRPr sz="1875">
              <a:solidFill>
                <a:srgbClr val="1E2426"/>
              </a:solidFill>
            </a:endParaRPr>
          </a:p>
          <a:p>
            <a:pPr marL="0" indent="0">
              <a:lnSpc>
                <a:spcPct val="118000"/>
              </a:lnSpc>
              <a:spcAft>
                <a:spcPts val="5"/>
              </a:spcAft>
              <a:buNone/>
              <a:defRPr sz="1875">
                <a:solidFill>
                  <a:srgbClr val="1E2426"/>
                </a:solidFill>
              </a:defRPr>
            </a:pPr>
            <a:r>
              <a:rPr sz="1875">
                <a:solidFill>
                  <a:srgbClr val="1E2426"/>
                </a:solidFill>
              </a:rPr>
              <a:t>最后精讲标题题：比较两个标题的内容范围、主题深度和表达效果</a:t>
            </a:r>
            <a:endParaRPr sz="1875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0E6B67"/>
                </a:solidFill>
              </a:defRPr>
            </a:pPr>
            <a:r>
              <a:rPr sz="1350" b="1" i="0">
                <a:solidFill>
                  <a:srgbClr val="0E6B67"/>
                </a:solidFill>
              </a:rPr>
              <a:t>材料二：千年古村 · 原文</a:t>
            </a:r>
            <a:endParaRPr sz="1350" b="1" i="0">
              <a:solidFill>
                <a:srgbClr val="0E6B6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13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819150"/>
            <a:ext cx="923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916"/>
          </a:bodyPr>
          <a:lstStyle/>
          <a:p>
            <a:pPr algn="l">
              <a:lnSpc>
                <a:spcPct val="104000"/>
              </a:lnSpc>
              <a:buNone/>
              <a:defRPr sz="2325" b="1" i="0">
                <a:solidFill>
                  <a:srgbClr val="1E2426"/>
                </a:solidFill>
              </a:defRPr>
            </a:pPr>
            <a:r>
              <a:rPr sz="2325" b="1" i="0">
                <a:solidFill>
                  <a:srgbClr val="1E2426"/>
                </a:solidFill>
              </a:rPr>
              <a:t>原文阅读 1/2</a:t>
            </a:r>
            <a:endParaRPr sz="2325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257300"/>
            <a:ext cx="971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9906"/>
          </a:bodyPr>
          <a:lstStyle/>
          <a:p>
            <a:pPr algn="l">
              <a:lnSpc>
                <a:spcPct val="115000"/>
              </a:lnSpc>
              <a:buNone/>
              <a:defRPr sz="1275" b="0" i="0">
                <a:solidFill>
                  <a:srgbClr val="697276"/>
                </a:solidFill>
              </a:defRPr>
            </a:pPr>
            <a:r>
              <a:rPr sz="1275" b="0" i="0">
                <a:solidFill>
                  <a:srgbClr val="697276"/>
                </a:solidFill>
              </a:rPr>
              <a:t>先完整读材料，再回到题目。读的时候圈标题关键词、反复对象和结尾句。</a:t>
            </a:r>
            <a:endParaRPr sz="127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619250"/>
            <a:ext cx="3143250" cy="0"/>
          </a:xfrm>
          <a:prstGeom prst="line">
            <a:avLst/>
          </a:prstGeom>
          <a:noFill/>
          <a:ln w="28575">
            <a:solidFill>
              <a:srgbClr val="0E6B67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742950" y="175260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0E6B67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原文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552450" y="2057400"/>
            <a:ext cx="5429250" cy="4248150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9525">
            <a:solidFill>
              <a:srgbClr val="0E6B6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圆角矩形 11"/>
          <p:cNvSpPr>
            <a:spLocks noGrp="1"/>
          </p:cNvSpPr>
          <p:nvPr/>
        </p:nvSpPr>
        <p:spPr>
          <a:xfrm>
            <a:off x="6210300" y="2057400"/>
            <a:ext cx="5429250" cy="4248150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9525">
            <a:solidFill>
              <a:srgbClr val="0E6B6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/>
        </p:nvSpPr>
        <p:spPr>
          <a:xfrm>
            <a:off x="781050" y="2247900"/>
            <a:ext cx="4972050" cy="386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__________________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李现新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到古村方峪采风，正赶上芒种时节最热的日子。一下车，一股热浪便扑面而来，鼻孔中立刻盈满了混合着麦香的土焦味。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一位叫吴斌的小伙子如铁钉般立在太阳下迎接我们。他是土生土长的方峪人，对村里的情况了如指掌，他一边带领我们参观，一边给我们介绍着古村的方方面面。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这是一处典型的鲁西山区的明清时期古村落，整村保存完整，民居保留完好，而且目前还有村民在村中居住。村子依傍着石山，村中有石街石巷、石院石墙、石碾石磨、石影壁石戏台，可以说是触目皆石、无一不石。凭此特色，方峪村跻身“国家级传统村落”“山东省文物保护单位”“山东省乡村记忆工程文化遗产”行列。</a:t>
            </a:r>
            <a:endParaRPr sz="1095" b="0" i="0">
              <a:solidFill>
                <a:srgbClr val="1E2426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38900" y="2247900"/>
            <a:ext cx="4972050" cy="386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在村史馆，馆中央陈列着镇馆之宝——一件八棱经幢(chuáng‌)。幢体的四角上雕有四位侍女的形象，神态安然，衣纹流畅，透着一股宋式的随性。吴斌说，方峪村石雕很多，这是最古老最精美的一件，见证了方峪的千年历史。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出了村史馆，从村口的一截石墙里挺立而出的一株老榆树，诉说着村中光阴的故事。见此状，我的耳边不禁萦绕起了那首《老榆树》：“有一个小小村庄，那是我梦绕魂牵的地方，亲手种下的那棵老榆树，树叶青了又变黄……”这村口的一墙一树，是方峪古村的乡愁序曲，它或许曾无数次出现于漂泊在外的方峪人的梦中。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越向街巷深处走，我们便入“戏”越深。在街巷和院落中穿行时，我们不时地被一些建筑身上的小细节所吸引。比如，墙角往往会做成上直下圆的样式，在拐弯处有意将墙角抹去，以方便人们出行，这便是俗称的“拐弯抹角”。所谓“拐弯抹角”，其实就是互谦互让、邻里和睦等古老乡风的生动体现。另外，村中许多墙上还嵌有各式各样的拴牛石。吴斌告诉我们，小小的拴牛石是家庭财富的体现，类似于现在的家用停车位。</a:t>
            </a:r>
            <a:endParaRPr sz="109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0E6B67"/>
                </a:solidFill>
              </a:defRPr>
            </a:pPr>
            <a:r>
              <a:rPr sz="1350" b="1" i="0">
                <a:solidFill>
                  <a:srgbClr val="0E6B67"/>
                </a:solidFill>
              </a:rPr>
              <a:t>材料二：千年古村 · 原文</a:t>
            </a:r>
            <a:endParaRPr sz="1350" b="1" i="0">
              <a:solidFill>
                <a:srgbClr val="0E6B6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14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819150"/>
            <a:ext cx="923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916"/>
          </a:bodyPr>
          <a:lstStyle/>
          <a:p>
            <a:pPr algn="l">
              <a:lnSpc>
                <a:spcPct val="104000"/>
              </a:lnSpc>
              <a:buNone/>
              <a:defRPr sz="2325" b="1" i="0">
                <a:solidFill>
                  <a:srgbClr val="1E2426"/>
                </a:solidFill>
              </a:defRPr>
            </a:pPr>
            <a:r>
              <a:rPr sz="2325" b="1" i="0">
                <a:solidFill>
                  <a:srgbClr val="1E2426"/>
                </a:solidFill>
              </a:rPr>
              <a:t>原文阅读 2/2</a:t>
            </a:r>
            <a:endParaRPr sz="2325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257300"/>
            <a:ext cx="971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9906"/>
          </a:bodyPr>
          <a:lstStyle/>
          <a:p>
            <a:pPr algn="l">
              <a:lnSpc>
                <a:spcPct val="115000"/>
              </a:lnSpc>
              <a:buNone/>
              <a:defRPr sz="1275" b="0" i="0">
                <a:solidFill>
                  <a:srgbClr val="697276"/>
                </a:solidFill>
              </a:defRPr>
            </a:pPr>
            <a:r>
              <a:rPr sz="1275" b="0" i="0">
                <a:solidFill>
                  <a:srgbClr val="697276"/>
                </a:solidFill>
              </a:rPr>
              <a:t>继续读原文，关注材料如何推进内容和主题。</a:t>
            </a:r>
            <a:endParaRPr sz="127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619250"/>
            <a:ext cx="3143250" cy="0"/>
          </a:xfrm>
          <a:prstGeom prst="line">
            <a:avLst/>
          </a:prstGeom>
          <a:noFill/>
          <a:ln w="28575">
            <a:solidFill>
              <a:srgbClr val="0E6B67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742950" y="175260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0E6B67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原文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552450" y="2057400"/>
            <a:ext cx="5429250" cy="4248150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9525">
            <a:solidFill>
              <a:srgbClr val="0E6B6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圆角矩形 11"/>
          <p:cNvSpPr>
            <a:spLocks noGrp="1"/>
          </p:cNvSpPr>
          <p:nvPr/>
        </p:nvSpPr>
        <p:spPr>
          <a:xfrm>
            <a:off x="6210300" y="2057400"/>
            <a:ext cx="5429250" cy="4248150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9525">
            <a:solidFill>
              <a:srgbClr val="0E6B6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/>
        </p:nvSpPr>
        <p:spPr>
          <a:xfrm>
            <a:off x="781050" y="2247900"/>
            <a:ext cx="4972050" cy="386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方峪的古民居是鲁西民居的“活标本”，用一句话概括它的特色，那就是“圆形屋，窄门方窗，一石到顶”。当地人称方峪古民居的房顶都为漫屋顶。漫屋顶的制作工序繁杂，需要多人合作才能完成，当地人将此过程称为“锤屋”。“锤屋”一般都选在春秋两季的农闲时节。主人家提前谋划好，到时一吆喝，全村壮劳力齐上阵，通过“地面”“二架”“三架”，将材料依次送上屋顶；屋顶上的人们则用铁锨拍打，用木棒捶击，形成20厘米左右厚度的光滑的灰浆层。整个过程一气呵成，如果中途停工，灰浆便不能凝固成一体，影响工程质量。所有的劳动都是自发和无偿的，主人家仅仅根据自家条件管一顿饭而已。“锤屋”，夯实的不单单是漫屋顶，更是一种守望相助、团结协作的精神。吴斌告诉我们，漫屋顶在这一带很实用，一来便于雨季排水冬天保温，二来因山区五谷杂粮比较多，需要较大面积的晒场，漫屋顶就是很好的晒场，方便打理，且安全防盗。</a:t>
            </a:r>
            <a:endParaRPr sz="1095" b="0" i="0">
              <a:solidFill>
                <a:srgbClr val="1E2426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38900" y="2247900"/>
            <a:ext cx="4972050" cy="386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村里目前正在利用村民的部分闲置院落开发民宿。吴斌引导我们参观了几处在建的小院。现在，许多城里人都梦想有自己的一方农家小院，如果能在“绿树村边合，青山郭外斜”的方峪村拥有这样一处院落，和朋友们“开轩面场圃，把酒话桑麻”，何尝不是人生一大幸事？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谈到村庄今后的发展时，吴斌说，现在方峪响亮的名声已经有了，下一步就是想办法盘活村中资产，打造个性品牌，发展乡村休闲文旅产业，让老百姓得到实惠。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目前，村里投资入股了蛋鸡养殖，还流转了200多亩土地种植丹参等中草药。今年，村里又举办了主题为“一个千年古村的苏醒”的系列文化活动，旨在全方位展示古村的文化魅力与原生态之美。系列活动的内容有“方峪印象”石雕展、“相约方峪村”艺术节、“千年方峪村”保护与发展论坛、“方峪金秋”丰收摄影节等。春节期间的开幕式举办得也很成功，内容涵盖了歌曲、舞蹈、朗诵、器乐、戏曲等多种艺术形式，为广大百姓献上了一场展现乡村独特文化魅力的视听盛宴。方峪，这个千年古村正从锣鼓、鞭炮和歌舞声中慢慢醒来，焕彩重生。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（有删改）</a:t>
            </a:r>
            <a:endParaRPr sz="109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0E6B67"/>
                </a:solidFill>
              </a:defRPr>
            </a:pPr>
            <a:r>
              <a:rPr sz="1350" b="1" i="0">
                <a:solidFill>
                  <a:srgbClr val="0E6B67"/>
                </a:solidFill>
              </a:rPr>
              <a:t>材料二：千年古村 · 原题演练</a:t>
            </a:r>
            <a:endParaRPr sz="1350" b="1" i="0">
              <a:solidFill>
                <a:srgbClr val="0E6B6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15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1 题：先思考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先看题目，独立判断或写下关键词；下一步再核对答案。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0E6B67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0E6B67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第1题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0E6B6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690"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（1）下列对文章的理解与分析，不正确的一项是（    ）（3分）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A.方峪村触目皆石、无一不石，村史馆中的八棱经幢石雕见证了方峪的千年历史。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B.“拐弯抹角”的建筑细节，体现了古村蕴含的互谅互助、邻里和睦的古老乡风。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C.文末系列文化活动表明，方峪古村的“苏醒”不仅是物质保存，更是文化焕新。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D.文章记录了“我”在方峪古村的采风见闻，重点介绍了其精彩多样的文化活动。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DFF1EA"/>
          </a:solidFill>
          <a:ln w="9525">
            <a:solidFill>
              <a:srgbClr val="0E6B6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5010150"/>
            <a:ext cx="1005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2754"/>
          </a:bodyPr>
          <a:lstStyle/>
          <a:p>
            <a:pPr algn="ctr">
              <a:lnSpc>
                <a:spcPct val="115000"/>
              </a:lnSpc>
              <a:buNone/>
              <a:defRPr sz="2250" b="1" i="0">
                <a:solidFill>
                  <a:srgbClr val="0E6B67"/>
                </a:solidFill>
              </a:defRPr>
            </a:pPr>
            <a:r>
              <a:rPr sz="2250" b="1" i="0">
                <a:solidFill>
                  <a:srgbClr val="0E6B67"/>
                </a:solidFill>
              </a:rPr>
              <a:t>下一步显示答案与解析</a:t>
            </a:r>
            <a:endParaRPr sz="2250" b="1" i="0">
              <a:solidFill>
                <a:srgbClr val="0E6B67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0E6B67"/>
                </a:solidFill>
              </a:defRPr>
            </a:pPr>
            <a:r>
              <a:rPr sz="1350" b="1" i="0">
                <a:solidFill>
                  <a:srgbClr val="0E6B67"/>
                </a:solidFill>
              </a:rPr>
              <a:t>材料二：千年古村 · 原题演练</a:t>
            </a:r>
            <a:endParaRPr sz="1350" b="1" i="0">
              <a:solidFill>
                <a:srgbClr val="0E6B6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16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1 题：答案解析 1/1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核对答案时，先找原文依据，再看评分表达。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0E6B67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0E6B67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第1题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0E6B6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690"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（1）下列对文章的理解与分析，不正确的一项是（    ）（3分）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A.方峪村触目皆石、无一不石，村史馆中的八棱经幢石雕见证了方峪的千年历史。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B.“拐弯抹角”的建筑细节，体现了古村蕴含的互谅互助、邻里和睦的古老乡风。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C.文末系列文化活动表明，方峪古村的“苏醒”不仅是物质保存，更是文化焕新。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D.文章记录了“我”在方峪古村的采风见闻，重点介绍了其精彩多样的文化活动。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DFF1EA"/>
          </a:solidFill>
          <a:ln w="9525">
            <a:solidFill>
              <a:srgbClr val="0E6B6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4552950"/>
            <a:ext cx="100584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答案与解析</a:t>
            </a:r>
            <a:endParaRPr sz="1275" b="0" i="0">
              <a:solidFill>
                <a:srgbClr val="1E2426"/>
              </a:solidFill>
            </a:endParaRPr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答案：D</a:t>
            </a:r>
            <a:endParaRPr sz="1275" b="0" i="0">
              <a:solidFill>
                <a:srgbClr val="1E2426"/>
              </a:solidFill>
            </a:endParaRPr>
          </a:p>
          <a:p>
            <a:endParaRPr sz="1275"/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【解析】D“重点介绍了其精彩多样的文化活动”有误。</a:t>
            </a:r>
            <a:endParaRPr sz="127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0E6B67"/>
                </a:solidFill>
              </a:defRPr>
            </a:pPr>
            <a:r>
              <a:rPr sz="1350" b="1" i="0">
                <a:solidFill>
                  <a:srgbClr val="0E6B67"/>
                </a:solidFill>
              </a:rPr>
              <a:t>材料二：千年古村 · 原题演练</a:t>
            </a:r>
            <a:endParaRPr sz="1350" b="1" i="0">
              <a:solidFill>
                <a:srgbClr val="0E6B6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17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2 题：先思考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先看题目，独立判断或写下关键词；下一步再核对答案。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0E6B67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0E6B67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第2题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0E6B6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（2）请按照括号中的提示，结合上下文赏析文中画线句的表达效果。（4分）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①一下车，一股热浪便扑面而来，鼻孔中立刻盈满了混合着麦香的土焦味。（从感官的角度）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②从村口的一截石墙里挺立而出的一株老榆树，诉说着村中光阴的故事。（从修辞手法的角度）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DFF1EA"/>
          </a:solidFill>
          <a:ln w="9525">
            <a:solidFill>
              <a:srgbClr val="0E6B6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5010150"/>
            <a:ext cx="1005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2754"/>
          </a:bodyPr>
          <a:lstStyle/>
          <a:p>
            <a:pPr algn="ctr">
              <a:lnSpc>
                <a:spcPct val="115000"/>
              </a:lnSpc>
              <a:buNone/>
              <a:defRPr sz="2250" b="1" i="0">
                <a:solidFill>
                  <a:srgbClr val="0E6B67"/>
                </a:solidFill>
              </a:defRPr>
            </a:pPr>
            <a:r>
              <a:rPr sz="2250" b="1" i="0">
                <a:solidFill>
                  <a:srgbClr val="0E6B67"/>
                </a:solidFill>
              </a:rPr>
              <a:t>下一步显示答案与解析</a:t>
            </a:r>
            <a:endParaRPr sz="2250" b="1" i="0">
              <a:solidFill>
                <a:srgbClr val="0E6B67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0E6B67"/>
                </a:solidFill>
              </a:defRPr>
            </a:pPr>
            <a:r>
              <a:rPr sz="1350" b="1" i="0">
                <a:solidFill>
                  <a:srgbClr val="0E6B67"/>
                </a:solidFill>
              </a:rPr>
              <a:t>材料二：千年古村 · 原题演练</a:t>
            </a:r>
            <a:endParaRPr sz="1350" b="1" i="0">
              <a:solidFill>
                <a:srgbClr val="0E6B6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18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2 题：答案解析 1/2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核对答案时，先找原文依据，再看评分表达。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0E6B67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0E6B67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第2题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0E6B6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（2）请按照括号中的提示，结合上下文赏析文中画线句的表达效果。（4分）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①一下车，一股热浪便扑面而来，鼻孔中立刻盈满了混合着麦香的土焦味。（从感官的角度）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②从村口的一截石墙里挺立而出的一株老榆树，诉说着村中光阴的故事。（从修辞手法的角度）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DFF1EA"/>
          </a:solidFill>
          <a:ln w="9525">
            <a:solidFill>
              <a:srgbClr val="0E6B6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4552950"/>
            <a:ext cx="100584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2803"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答案与解析</a:t>
            </a:r>
            <a:endParaRPr sz="1275" b="0" i="0">
              <a:solidFill>
                <a:srgbClr val="1E2426"/>
              </a:solidFill>
            </a:endParaRPr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①一下车，一股热浪便扑面而来，鼻孔中立刻盈满了混合着麦香的土焦味。（从感官的角度）</a:t>
            </a:r>
            <a:endParaRPr sz="1275" b="0" i="0">
              <a:solidFill>
                <a:srgbClr val="1E2426"/>
              </a:solidFill>
            </a:endParaRPr>
          </a:p>
          <a:p>
            <a:endParaRPr sz="1275"/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运用了触觉和嗅觉描写(1分)，“热浪便扑面而来”写出了天气的炎热；“混合着麦香的土焦味”写出了方峪村的乡土气息(1分)。(感官描写1分，效果1分)</a:t>
            </a:r>
            <a:endParaRPr sz="1275" b="0" i="0">
              <a:solidFill>
                <a:srgbClr val="1E2426"/>
              </a:solidFill>
            </a:endParaRPr>
          </a:p>
          <a:p>
            <a:endParaRPr sz="1275"/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②从村口的一截石墙里挺立而出的一株老榆树，诉说着村中光阴的故事。（从修辞手法的角度）</a:t>
            </a:r>
            <a:endParaRPr sz="127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0E6B67"/>
                </a:solidFill>
              </a:defRPr>
            </a:pPr>
            <a:r>
              <a:rPr sz="1350" b="1" i="0">
                <a:solidFill>
                  <a:srgbClr val="0E6B67"/>
                </a:solidFill>
              </a:rPr>
              <a:t>材料二：千年古村 · 原题演练</a:t>
            </a:r>
            <a:endParaRPr sz="1350" b="1" i="0">
              <a:solidFill>
                <a:srgbClr val="0E6B6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19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2 题：答案解析 2/2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继续核对本题解析，区分原文依据和得分表达。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0E6B67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0E6B67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第2题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0E6B6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（2）请按照括号中的提示，结合上下文赏析文中画线句的表达效果。（4分）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①一下车，一股热浪便扑面而来，鼻孔中立刻盈满了混合着麦香的土焦味。（从感官的角度）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②从村口的一截石墙里挺立而出的一株老榆树，诉说着村中光阴的故事。（从修辞手法的角度）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DFF1EA"/>
          </a:solidFill>
          <a:ln w="9525">
            <a:solidFill>
              <a:srgbClr val="0E6B6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4552950"/>
            <a:ext cx="100584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答案与解析</a:t>
            </a:r>
            <a:endParaRPr sz="1275" b="0" i="0">
              <a:solidFill>
                <a:srgbClr val="1E2426"/>
              </a:solidFill>
            </a:endParaRPr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运用了拟人的修辞手法，将挺立的老榆树人格化(1分)，生动形象地写出了老榆树作为村庄守护者，见证了方峪的历史变迁(1分)。(拟人手法及分析1分，效果1分)</a:t>
            </a:r>
            <a:endParaRPr sz="127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0E6B67"/>
                </a:solidFill>
              </a:defRPr>
            </a:pPr>
            <a:r>
              <a:rPr sz="1350" b="1" i="0">
                <a:solidFill>
                  <a:srgbClr val="0E6B67"/>
                </a:solidFill>
              </a:rPr>
              <a:t>材料二：千年古村 · 原题演练</a:t>
            </a:r>
            <a:endParaRPr sz="1350" b="1" i="0">
              <a:solidFill>
                <a:srgbClr val="0E6B6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20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3 题：先思考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先看题目，独立判断或写下关键词；下一步再核对答案。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0E6B67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0E6B67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第3题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0E6B6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（3）作者在文中详细描写“锤屋”这一传统工艺过程，有何用意？（4分）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DFF1EA"/>
          </a:solidFill>
          <a:ln w="9525">
            <a:solidFill>
              <a:srgbClr val="0E6B6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5010150"/>
            <a:ext cx="1005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2754"/>
          </a:bodyPr>
          <a:lstStyle/>
          <a:p>
            <a:pPr algn="ctr">
              <a:lnSpc>
                <a:spcPct val="115000"/>
              </a:lnSpc>
              <a:buNone/>
              <a:defRPr sz="2250" b="1" i="0">
                <a:solidFill>
                  <a:srgbClr val="0E6B67"/>
                </a:solidFill>
              </a:defRPr>
            </a:pPr>
            <a:r>
              <a:rPr sz="2250" b="1" i="0">
                <a:solidFill>
                  <a:srgbClr val="0E6B67"/>
                </a:solidFill>
              </a:rPr>
              <a:t>下一步显示答案与解析</a:t>
            </a:r>
            <a:endParaRPr sz="2250" b="1" i="0">
              <a:solidFill>
                <a:srgbClr val="0E6B67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0E6B67"/>
                </a:solidFill>
              </a:defRPr>
            </a:pPr>
            <a:r>
              <a:rPr sz="1350" b="1" i="0">
                <a:solidFill>
                  <a:srgbClr val="0E6B67"/>
                </a:solidFill>
              </a:rPr>
              <a:t>材料二：千年古村 · 原题演练</a:t>
            </a:r>
            <a:endParaRPr sz="1350" b="1" i="0">
              <a:solidFill>
                <a:srgbClr val="0E6B6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21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3 题：答案解析 1/1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核对答案时，先找原文依据，再看评分表达。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0E6B67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0E6B67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第3题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0E6B6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（3）作者在文中详细描写“锤屋”这一传统工艺过程，有何用意？（4分）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DFF1EA"/>
          </a:solidFill>
          <a:ln w="9525">
            <a:solidFill>
              <a:srgbClr val="0E6B6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4552950"/>
            <a:ext cx="100584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561"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答案与解析</a:t>
            </a:r>
            <a:endParaRPr sz="1275" b="0" i="0">
              <a:solidFill>
                <a:srgbClr val="1E2426"/>
              </a:solidFill>
            </a:endParaRPr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①通过“锤屋”的时令选择、操作过程与协作方式等，展现古村建筑的特色与村民的智慧。</a:t>
            </a:r>
            <a:endParaRPr sz="1275" b="0" i="0">
              <a:solidFill>
                <a:srgbClr val="1E2426"/>
              </a:solidFill>
            </a:endParaRPr>
          </a:p>
          <a:p>
            <a:endParaRPr sz="1275"/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②以“全村壮劳力齐上阵”“自发和无偿”等内容，体现村民守望相助、团结协作的乡风，彰显文化底蕴。</a:t>
            </a:r>
            <a:endParaRPr sz="1275" b="0" i="0">
              <a:solidFill>
                <a:srgbClr val="1E2426"/>
              </a:solidFill>
            </a:endParaRPr>
          </a:p>
          <a:p>
            <a:endParaRPr sz="1275"/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③对传统工艺的细致刻画，展现了方峪古民居的文化价值，为后文古村依托自身特色发展民宿等文旅产业作铺垫。(每点2分，任选两点可得4分；其他答案于文有据、言之成理也可得分)</a:t>
            </a:r>
            <a:endParaRPr sz="127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0E6B67"/>
                </a:solidFill>
              </a:defRPr>
            </a:pPr>
            <a:r>
              <a:rPr sz="1350" b="1" i="0">
                <a:solidFill>
                  <a:srgbClr val="0E6B67"/>
                </a:solidFill>
              </a:rPr>
              <a:t>材料二：千年古村 · 原题演练</a:t>
            </a:r>
            <a:endParaRPr sz="1350" b="1" i="0">
              <a:solidFill>
                <a:srgbClr val="0E6B6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22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4 题：先思考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先看题目，独立判断或写下关键词；下一步再核对答案。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0E6B67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0E6B67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第4题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0E6B6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（4）请从以下两个标题中选择一个作为本文的标题，并说明理由。（6分）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①《一个千年古村的苏醒》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②《千年古村的振兴之路》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DFF1EA"/>
          </a:solidFill>
          <a:ln w="9525">
            <a:solidFill>
              <a:srgbClr val="0E6B6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5010150"/>
            <a:ext cx="1005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2754"/>
          </a:bodyPr>
          <a:lstStyle/>
          <a:p>
            <a:pPr algn="ctr">
              <a:lnSpc>
                <a:spcPct val="115000"/>
              </a:lnSpc>
              <a:buNone/>
              <a:defRPr sz="2250" b="1" i="0">
                <a:solidFill>
                  <a:srgbClr val="0E6B67"/>
                </a:solidFill>
              </a:defRPr>
            </a:pPr>
            <a:r>
              <a:rPr sz="2250" b="1" i="0">
                <a:solidFill>
                  <a:srgbClr val="0E6B67"/>
                </a:solidFill>
              </a:rPr>
              <a:t>下一步显示答案与解析</a:t>
            </a:r>
            <a:endParaRPr sz="2250" b="1" i="0">
              <a:solidFill>
                <a:srgbClr val="0E6B67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0E6B67"/>
                </a:solidFill>
              </a:defRPr>
            </a:pPr>
            <a:r>
              <a:rPr sz="1350" b="1" i="0">
                <a:solidFill>
                  <a:srgbClr val="0E6B67"/>
                </a:solidFill>
              </a:rPr>
              <a:t>材料二：千年古村 · 原题演练</a:t>
            </a:r>
            <a:endParaRPr sz="1350" b="1" i="0">
              <a:solidFill>
                <a:srgbClr val="0E6B6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23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4 题：答案解析 1/3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核对答案时，先找原文依据，再看评分表达。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0E6B67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0E6B67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第4题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0E6B6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（4）请从以下两个标题中选择一个作为本文的标题，并说明理由。（6分）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①《一个千年古村的苏醒》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②《千年古村的振兴之路》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DFF1EA"/>
          </a:solidFill>
          <a:ln w="9525">
            <a:solidFill>
              <a:srgbClr val="0E6B6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4552950"/>
            <a:ext cx="100584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561"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答案与解析</a:t>
            </a:r>
            <a:endParaRPr sz="1275" b="0" i="0">
              <a:solidFill>
                <a:srgbClr val="1E2426"/>
              </a:solidFill>
            </a:endParaRPr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示例一：选择《一个千年古村的苏醒》</a:t>
            </a:r>
            <a:endParaRPr sz="1275" b="0" i="0">
              <a:solidFill>
                <a:srgbClr val="1E2426"/>
              </a:solidFill>
            </a:endParaRPr>
          </a:p>
          <a:p>
            <a:endParaRPr sz="1275"/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①交代主要内容(1分)，本文记叙了古村从保护古建筑到开发民宿、开展文化活动的发展历程(1分)。</a:t>
            </a:r>
            <a:endParaRPr sz="1275" b="0" i="0">
              <a:solidFill>
                <a:srgbClr val="1E2426"/>
              </a:solidFill>
            </a:endParaRPr>
          </a:p>
          <a:p>
            <a:endParaRPr sz="1275"/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②“千年古村”与“苏醒”揭示了古村在传承与创新中发展的主题(1分)，寄托了作者对古村发展的期盼(1分)。③“苏醒”运用拟人手法，将古村人格化(1分)，生动体现出古村“慢慢醒来，焕彩重生”的生命力量(1分)。④引发了读者对方峪古村“苏醒”的好奇(1分)，吸引读者注意，提升阅读兴趣(1分)。</a:t>
            </a:r>
            <a:endParaRPr sz="127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0E6B67"/>
                </a:solidFill>
              </a:defRPr>
            </a:pPr>
            <a:r>
              <a:rPr sz="1350" b="1" i="0">
                <a:solidFill>
                  <a:srgbClr val="0E6B67"/>
                </a:solidFill>
              </a:rPr>
              <a:t>材料二：千年古村 · 原题演练</a:t>
            </a:r>
            <a:endParaRPr sz="1350" b="1" i="0">
              <a:solidFill>
                <a:srgbClr val="0E6B6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24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4 题：答案解析 2/3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继续核对本题解析，区分原文依据和得分表达。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0E6B67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0E6B67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第4题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0E6B6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（4）请从以下两个标题中选择一个作为本文的标题，并说明理由。（6分）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①《一个千年古村的苏醒》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②《千年古村的振兴之路》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DFF1EA"/>
          </a:solidFill>
          <a:ln w="9525">
            <a:solidFill>
              <a:srgbClr val="0E6B6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4552950"/>
            <a:ext cx="100584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答案与解析</a:t>
            </a:r>
            <a:endParaRPr sz="1275" b="0" i="0">
              <a:solidFill>
                <a:srgbClr val="1E2426"/>
              </a:solidFill>
            </a:endParaRPr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(第③点：与结尾“主题为‘一个千年古村的苏醒’的系列文化活动”/“焕彩重生呼应，这种回答也可得分)</a:t>
            </a:r>
            <a:endParaRPr sz="1275" b="0" i="0">
              <a:solidFill>
                <a:srgbClr val="1E2426"/>
              </a:solidFill>
            </a:endParaRPr>
          </a:p>
          <a:p>
            <a:endParaRPr sz="1275"/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示例二：选择《千年古村的振兴之路》。</a:t>
            </a:r>
            <a:endParaRPr sz="127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0E6B67"/>
                </a:solidFill>
              </a:defRPr>
            </a:pPr>
            <a:r>
              <a:rPr sz="1350" b="1" i="0">
                <a:solidFill>
                  <a:srgbClr val="0E6B67"/>
                </a:solidFill>
              </a:rPr>
              <a:t>材料二：千年古村 · 原题演练</a:t>
            </a:r>
            <a:endParaRPr sz="1350" b="1" i="0">
              <a:solidFill>
                <a:srgbClr val="0E6B6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25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4 题：答案解析 3/3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继续核对本题解析，区分原文依据和得分表达。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0E6B67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0E6B67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第4题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0E6B6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（4）请从以下两个标题中选择一个作为本文的标题，并说明理由。（6分）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①《一个千年古村的苏醒》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②《千年古村的振兴之路》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DFF1EA"/>
          </a:solidFill>
          <a:ln w="9525">
            <a:solidFill>
              <a:srgbClr val="0E6B6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4552950"/>
            <a:ext cx="100584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答案与解析</a:t>
            </a:r>
            <a:endParaRPr sz="1275" b="0" i="0">
              <a:solidFill>
                <a:srgbClr val="1E2426"/>
              </a:solidFill>
            </a:endParaRPr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①交代主要内容(1分)，本文记叙了古村依托古建筑等传统特色开发民宿、举办文化活动，使古村振兴发展(1分)。②与结尾古村“焕彩重生”呼应(1分)，点明了在传承文化与创新发展中实现乡村振兴的主题(1分)。③“振兴”既表达了作者对古村发展现状的肯定(1分)，也寄托了对古村未来不断发展的期待。(1分)(其他答案，于文有据言之成理也可)</a:t>
            </a:r>
            <a:endParaRPr sz="127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0E6B67"/>
                </a:solidFill>
              </a:defRPr>
            </a:pPr>
            <a:r>
              <a:rPr sz="1350" b="1" i="0">
                <a:solidFill>
                  <a:srgbClr val="0E6B67"/>
                </a:solidFill>
              </a:rPr>
              <a:t>材料二：千年古村 · 标题题</a:t>
            </a:r>
            <a:endParaRPr sz="1350" b="1" i="0">
              <a:solidFill>
                <a:srgbClr val="0E6B6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26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990600"/>
            <a:ext cx="9239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6909"/>
          </a:bodyPr>
          <a:lstStyle/>
          <a:p>
            <a:pPr algn="l">
              <a:lnSpc>
                <a:spcPct val="105000"/>
              </a:lnSpc>
              <a:buNone/>
              <a:defRPr sz="2850" b="1" i="0">
                <a:solidFill>
                  <a:srgbClr val="1E2426"/>
                </a:solidFill>
              </a:defRPr>
            </a:pPr>
            <a:r>
              <a:rPr sz="2850" b="1" i="0">
                <a:solidFill>
                  <a:srgbClr val="1E2426"/>
                </a:solidFill>
              </a:rPr>
              <a:t>标题题先判断，不急着看解析</a:t>
            </a:r>
            <a:endParaRPr sz="28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406"/>
          </a:bodyPr>
          <a:lstStyle/>
          <a:p>
            <a:pPr algn="l">
              <a:lnSpc>
                <a:spcPct val="115000"/>
              </a:lnSpc>
              <a:buNone/>
              <a:defRPr sz="1500" b="0" i="0">
                <a:solidFill>
                  <a:srgbClr val="697276"/>
                </a:solidFill>
              </a:defRPr>
            </a:pPr>
            <a:r>
              <a:rPr sz="1500" b="0" i="0">
                <a:solidFill>
                  <a:srgbClr val="697276"/>
                </a:solidFill>
              </a:rPr>
              <a:t>请学生先选，再说出一个文本依据。</a:t>
            </a:r>
            <a:endParaRPr sz="1500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2038350"/>
            <a:ext cx="3143250" cy="0"/>
          </a:xfrm>
          <a:prstGeom prst="line">
            <a:avLst/>
          </a:prstGeom>
          <a:noFill/>
          <a:ln w="28575">
            <a:solidFill>
              <a:srgbClr val="0E6B67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1257300" y="2895600"/>
            <a:ext cx="4476750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E6B6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圆角矩形 10"/>
          <p:cNvSpPr>
            <a:spLocks noGrp="1"/>
          </p:cNvSpPr>
          <p:nvPr/>
        </p:nvSpPr>
        <p:spPr>
          <a:xfrm>
            <a:off x="1485900" y="3190875"/>
            <a:ext cx="609600" cy="323850"/>
          </a:xfrm>
          <a:prstGeom prst="roundRect">
            <a:avLst>
              <a:gd name="adj" fmla="val 50000"/>
            </a:avLst>
          </a:prstGeom>
          <a:solidFill>
            <a:srgbClr val="0E6B67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①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305050" y="310515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9710"/>
          </a:bodyPr>
          <a:lstStyle/>
          <a:p>
            <a:pPr algn="ctr">
              <a:lnSpc>
                <a:spcPct val="115000"/>
              </a:lnSpc>
              <a:buNone/>
              <a:defRPr sz="1875" b="1" i="0">
                <a:solidFill>
                  <a:srgbClr val="1E2426"/>
                </a:solidFill>
              </a:defRPr>
            </a:pPr>
            <a:r>
              <a:rPr sz="1875" b="1" i="0">
                <a:solidFill>
                  <a:srgbClr val="1E2426"/>
                </a:solidFill>
              </a:rPr>
              <a:t>一个千年古村的苏醒</a:t>
            </a:r>
            <a:endParaRPr sz="1875" b="1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305550" y="2895600"/>
            <a:ext cx="4476750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39527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圆角矩形 13"/>
          <p:cNvSpPr>
            <a:spLocks noGrp="1"/>
          </p:cNvSpPr>
          <p:nvPr/>
        </p:nvSpPr>
        <p:spPr>
          <a:xfrm>
            <a:off x="6534150" y="3190875"/>
            <a:ext cx="609600" cy="323850"/>
          </a:xfrm>
          <a:prstGeom prst="roundRect">
            <a:avLst>
              <a:gd name="adj" fmla="val 50000"/>
            </a:avLst>
          </a:prstGeom>
          <a:solidFill>
            <a:srgbClr val="39527A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②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353300" y="310515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9710"/>
          </a:bodyPr>
          <a:lstStyle/>
          <a:p>
            <a:pPr algn="ctr">
              <a:lnSpc>
                <a:spcPct val="115000"/>
              </a:lnSpc>
              <a:buNone/>
              <a:defRPr sz="1875" b="1" i="0">
                <a:solidFill>
                  <a:srgbClr val="1E2426"/>
                </a:solidFill>
              </a:defRPr>
            </a:pPr>
            <a:r>
              <a:rPr sz="1875" b="1" i="0">
                <a:solidFill>
                  <a:srgbClr val="1E2426"/>
                </a:solidFill>
              </a:rPr>
              <a:t>千年古村的振兴之路</a:t>
            </a:r>
            <a:endParaRPr sz="1875" b="1" i="0">
              <a:solidFill>
                <a:srgbClr val="1E2426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1962150" y="4743450"/>
            <a:ext cx="8267700" cy="800100"/>
          </a:xfrm>
          <a:prstGeom prst="roundRect">
            <a:avLst>
              <a:gd name="adj" fmla="val 19048"/>
            </a:avLst>
          </a:prstGeom>
          <a:solidFill>
            <a:srgbClr val="E7ECF7"/>
          </a:solidFill>
          <a:ln w="9525">
            <a:solidFill>
              <a:srgbClr val="0E6B6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矩形 16"/>
          <p:cNvSpPr>
            <a:spLocks noGrp="1"/>
          </p:cNvSpPr>
          <p:nvPr/>
        </p:nvSpPr>
        <p:spPr>
          <a:xfrm>
            <a:off x="2362200" y="4972050"/>
            <a:ext cx="752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725"/>
          </a:bodyPr>
          <a:lstStyle/>
          <a:p>
            <a:pPr algn="ctr">
              <a:lnSpc>
                <a:spcPct val="115000"/>
              </a:lnSpc>
              <a:buNone/>
              <a:defRPr sz="1875" b="1" i="0">
                <a:solidFill>
                  <a:srgbClr val="0E6B67"/>
                </a:solidFill>
              </a:defRPr>
            </a:pPr>
            <a:r>
              <a:rPr sz="1875" b="1" i="0">
                <a:solidFill>
                  <a:srgbClr val="0E6B67"/>
                </a:solidFill>
              </a:rPr>
              <a:t>先选：哪个标题更有画面感，也更能呼应结尾？</a:t>
            </a:r>
            <a:endParaRPr sz="1875" b="1" i="0">
              <a:solidFill>
                <a:srgbClr val="0E6B67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0E6B67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0E6B67"/>
                </a:solidFill>
              </a:defRPr>
            </a:pPr>
            <a:r>
              <a:rPr sz="1350" b="1" i="0">
                <a:solidFill>
                  <a:srgbClr val="0E6B67"/>
                </a:solidFill>
              </a:rPr>
              <a:t>材料二：千年古村 · 标题题解析</a:t>
            </a:r>
            <a:endParaRPr sz="1350" b="1" i="0">
              <a:solidFill>
                <a:srgbClr val="0E6B6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27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990600"/>
            <a:ext cx="9239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6909"/>
          </a:bodyPr>
          <a:lstStyle/>
          <a:p>
            <a:pPr algn="l">
              <a:lnSpc>
                <a:spcPct val="105000"/>
              </a:lnSpc>
              <a:buNone/>
              <a:defRPr sz="2850" b="1" i="0">
                <a:solidFill>
                  <a:srgbClr val="1E2426"/>
                </a:solidFill>
              </a:defRPr>
            </a:pPr>
            <a:r>
              <a:rPr sz="2850" b="1" i="0">
                <a:solidFill>
                  <a:srgbClr val="1E2426"/>
                </a:solidFill>
              </a:rPr>
              <a:t>解析：《一个千年古村的苏醒》强在拟人与呼应</a:t>
            </a:r>
            <a:endParaRPr sz="28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406"/>
          </a:bodyPr>
          <a:lstStyle/>
          <a:p>
            <a:pPr algn="l">
              <a:lnSpc>
                <a:spcPct val="115000"/>
              </a:lnSpc>
              <a:buNone/>
              <a:defRPr sz="1500" b="0" i="0">
                <a:solidFill>
                  <a:srgbClr val="697276"/>
                </a:solidFill>
              </a:defRPr>
            </a:pPr>
            <a:r>
              <a:rPr sz="1500" b="0" i="0">
                <a:solidFill>
                  <a:srgbClr val="697276"/>
                </a:solidFill>
              </a:rPr>
              <a:t>“苏醒”把古村写活，也把保护、开发和文化活动连起来。</a:t>
            </a:r>
            <a:endParaRPr sz="1500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2038350"/>
            <a:ext cx="3143250" cy="0"/>
          </a:xfrm>
          <a:prstGeom prst="line">
            <a:avLst/>
          </a:prstGeom>
          <a:noFill/>
          <a:ln w="28575">
            <a:solidFill>
              <a:srgbClr val="0E6B67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76300" y="2609850"/>
            <a:ext cx="4572000" cy="990600"/>
          </a:xfrm>
          <a:prstGeom prst="roundRect">
            <a:avLst>
              <a:gd name="adj" fmla="val 15385"/>
            </a:avLst>
          </a:prstGeom>
          <a:solidFill>
            <a:srgbClr val="DFF1EA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1104900" y="27813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1594"/>
          </a:bodyPr>
          <a:lstStyle/>
          <a:p>
            <a:pPr algn="l">
              <a:lnSpc>
                <a:spcPct val="115000"/>
              </a:lnSpc>
              <a:buNone/>
              <a:defRPr sz="1800" b="1" i="0">
                <a:solidFill>
                  <a:srgbClr val="0E6B67"/>
                </a:solidFill>
              </a:defRPr>
            </a:pPr>
            <a:r>
              <a:rPr sz="1800" b="1" i="0">
                <a:solidFill>
                  <a:srgbClr val="0E6B67"/>
                </a:solidFill>
              </a:rPr>
              <a:t>内容</a:t>
            </a:r>
            <a:endParaRPr sz="1800" b="1" i="0">
              <a:solidFill>
                <a:srgbClr val="0E6B67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190750" y="280035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859"/>
          </a:bodyPr>
          <a:lstStyle/>
          <a:p>
            <a:pPr algn="l">
              <a:lnSpc>
                <a:spcPct val="118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记叙古村从保护古建筑到开发民宿、开展文化活动。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096000" y="2609850"/>
            <a:ext cx="4572000" cy="990600"/>
          </a:xfrm>
          <a:prstGeom prst="roundRect">
            <a:avLst>
              <a:gd name="adj" fmla="val 15385"/>
            </a:avLst>
          </a:prstGeom>
          <a:solidFill>
            <a:srgbClr val="E7ECF7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6324600" y="27813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1594"/>
          </a:bodyPr>
          <a:lstStyle/>
          <a:p>
            <a:pPr algn="l">
              <a:lnSpc>
                <a:spcPct val="115000"/>
              </a:lnSpc>
              <a:buNone/>
              <a:defRPr sz="1800" b="1" i="0">
                <a:solidFill>
                  <a:srgbClr val="39527A"/>
                </a:solidFill>
              </a:defRPr>
            </a:pPr>
            <a:r>
              <a:rPr sz="1800" b="1" i="0">
                <a:solidFill>
                  <a:srgbClr val="39527A"/>
                </a:solidFill>
              </a:rPr>
              <a:t>主题</a:t>
            </a:r>
            <a:endParaRPr sz="1800" b="1" i="0">
              <a:solidFill>
                <a:srgbClr val="39527A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410450" y="280035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0887"/>
          </a:bodyPr>
          <a:lstStyle/>
          <a:p>
            <a:pPr algn="l">
              <a:lnSpc>
                <a:spcPct val="118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揭示古村在传承与创新中发展的主题。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76300" y="4000500"/>
            <a:ext cx="4572000" cy="990600"/>
          </a:xfrm>
          <a:prstGeom prst="roundRect">
            <a:avLst>
              <a:gd name="adj" fmla="val 15385"/>
            </a:avLst>
          </a:prstGeom>
          <a:solidFill>
            <a:srgbClr val="FFF0CF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矩形 16"/>
          <p:cNvSpPr>
            <a:spLocks noGrp="1"/>
          </p:cNvSpPr>
          <p:nvPr/>
        </p:nvSpPr>
        <p:spPr>
          <a:xfrm>
            <a:off x="1104900" y="417195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1594"/>
          </a:bodyPr>
          <a:lstStyle/>
          <a:p>
            <a:pPr algn="l">
              <a:lnSpc>
                <a:spcPct val="115000"/>
              </a:lnSpc>
              <a:buNone/>
              <a:defRPr sz="1800" b="1" i="0">
                <a:solidFill>
                  <a:srgbClr val="C98928"/>
                </a:solidFill>
              </a:defRPr>
            </a:pPr>
            <a:r>
              <a:rPr sz="1800" b="1" i="0">
                <a:solidFill>
                  <a:srgbClr val="C98928"/>
                </a:solidFill>
              </a:rPr>
              <a:t>结构</a:t>
            </a:r>
            <a:endParaRPr sz="1800" b="1" i="0">
              <a:solidFill>
                <a:srgbClr val="C98928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190750" y="419100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2692"/>
          </a:bodyPr>
          <a:lstStyle/>
          <a:p>
            <a:pPr algn="l">
              <a:lnSpc>
                <a:spcPct val="118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呼应结尾“慢慢醒来，焕彩重生”。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096000" y="4000500"/>
            <a:ext cx="4572000" cy="990600"/>
          </a:xfrm>
          <a:prstGeom prst="roundRect">
            <a:avLst>
              <a:gd name="adj" fmla="val 15385"/>
            </a:avLst>
          </a:prstGeom>
          <a:solidFill>
            <a:srgbClr val="F0E7F3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0" name="矩形 19"/>
          <p:cNvSpPr>
            <a:spLocks noGrp="1"/>
          </p:cNvSpPr>
          <p:nvPr/>
        </p:nvSpPr>
        <p:spPr>
          <a:xfrm>
            <a:off x="6324600" y="417195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1594"/>
          </a:bodyPr>
          <a:lstStyle/>
          <a:p>
            <a:pPr algn="l">
              <a:lnSpc>
                <a:spcPct val="115000"/>
              </a:lnSpc>
              <a:buNone/>
              <a:defRPr sz="1800" b="1" i="0">
                <a:solidFill>
                  <a:srgbClr val="6B4E71"/>
                </a:solidFill>
              </a:defRPr>
            </a:pPr>
            <a:r>
              <a:rPr sz="1800" b="1" i="0">
                <a:solidFill>
                  <a:srgbClr val="6B4E71"/>
                </a:solidFill>
              </a:rPr>
              <a:t>表达</a:t>
            </a:r>
            <a:endParaRPr sz="1800" b="1" i="0">
              <a:solidFill>
                <a:srgbClr val="6B4E71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410450" y="419100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859"/>
          </a:bodyPr>
          <a:lstStyle/>
          <a:p>
            <a:pPr algn="l">
              <a:lnSpc>
                <a:spcPct val="118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“苏醒”运用拟人，生动写出古村的生命力。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352550" y="5657850"/>
            <a:ext cx="9486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6221"/>
          </a:bodyPr>
          <a:lstStyle/>
          <a:p>
            <a:pPr algn="ctr">
              <a:lnSpc>
                <a:spcPct val="115000"/>
              </a:lnSpc>
              <a:buNone/>
              <a:defRPr sz="2025" b="1" i="0">
                <a:solidFill>
                  <a:srgbClr val="0E6B67"/>
                </a:solidFill>
              </a:defRPr>
            </a:pPr>
            <a:r>
              <a:rPr sz="2025" b="1" i="0">
                <a:solidFill>
                  <a:srgbClr val="0E6B67"/>
                </a:solidFill>
              </a:rPr>
              <a:t>第二个标题也能答，但要更侧重乡村振兴这一主题。</a:t>
            </a:r>
            <a:endParaRPr sz="2025" b="1" i="0">
              <a:solidFill>
                <a:srgbClr val="0E6B67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6B4E71"/>
                </a:solidFill>
              </a:defRPr>
            </a:pPr>
            <a:r>
              <a:rPr sz="1350" b="1" i="0">
                <a:solidFill>
                  <a:srgbClr val="6B4E71"/>
                </a:solidFill>
              </a:rPr>
              <a:t>材料三：沙粒与云雀</a:t>
            </a:r>
            <a:endParaRPr sz="1350" b="1" i="0">
              <a:solidFill>
                <a:srgbClr val="6B4E71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28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238250"/>
            <a:ext cx="666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6875"/>
          </a:bodyPr>
          <a:lstStyle/>
          <a:p>
            <a:pPr algn="l">
              <a:lnSpc>
                <a:spcPct val="115000"/>
              </a:lnSpc>
              <a:buNone/>
              <a:defRPr sz="1725" b="1" i="0">
                <a:solidFill>
                  <a:srgbClr val="6B4E71"/>
                </a:solidFill>
              </a:defRPr>
            </a:pPr>
            <a:r>
              <a:rPr sz="1725" b="1" i="0">
                <a:solidFill>
                  <a:srgbClr val="6B4E71"/>
                </a:solidFill>
              </a:rPr>
              <a:t>3. （2024年广州中考）阅读下面文字，完成问题。</a:t>
            </a:r>
            <a:endParaRPr sz="1725" b="1" i="0">
              <a:solidFill>
                <a:srgbClr val="6B4E7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23900" y="1790700"/>
            <a:ext cx="8953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8000"/>
              </a:lnSpc>
              <a:buNone/>
              <a:defRPr sz="3150" b="1" i="0">
                <a:solidFill>
                  <a:srgbClr val="1E2426"/>
                </a:solidFill>
              </a:defRPr>
            </a:pPr>
            <a:r>
              <a:rPr sz="3150" b="1" i="0">
                <a:solidFill>
                  <a:srgbClr val="1E2426"/>
                </a:solidFill>
              </a:rPr>
              <a:t>开放题要看标题角度：亲近愿望，还是形象对比</a:t>
            </a:r>
            <a:endParaRPr sz="3150" b="1" i="0">
              <a:solidFill>
                <a:srgbClr val="1E2426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990600" y="3333750"/>
            <a:ext cx="9620250" cy="1428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6B4E7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10" name="矩形 9"/>
          <p:cNvSpPr>
            <a:spLocks noGrp="1"/>
          </p:cNvSpPr>
          <p:nvPr/>
        </p:nvSpPr>
        <p:spPr>
          <a:xfrm>
            <a:off x="1390650" y="3638550"/>
            <a:ext cx="8763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3559"/>
          </a:bodyPr>
          <a:lstStyle/>
          <a:p>
            <a:pPr marL="0" indent="0">
              <a:lnSpc>
                <a:spcPct val="118000"/>
              </a:lnSpc>
              <a:spcAft>
                <a:spcPts val="5"/>
              </a:spcAft>
              <a:buNone/>
              <a:defRPr sz="1875">
                <a:solidFill>
                  <a:srgbClr val="1E2426"/>
                </a:solidFill>
              </a:defRPr>
            </a:pPr>
            <a:r>
              <a:rPr sz="1875">
                <a:solidFill>
                  <a:srgbClr val="1E2426"/>
                </a:solidFill>
              </a:rPr>
              <a:t>先读原文：圈标题关键词可能对应的内容</a:t>
            </a:r>
            <a:endParaRPr sz="1875">
              <a:solidFill>
                <a:srgbClr val="1E2426"/>
              </a:solidFill>
            </a:endParaRPr>
          </a:p>
          <a:p>
            <a:pPr marL="0" indent="0">
              <a:lnSpc>
                <a:spcPct val="118000"/>
              </a:lnSpc>
              <a:spcAft>
                <a:spcPts val="5"/>
              </a:spcAft>
              <a:buNone/>
              <a:defRPr sz="1875">
                <a:solidFill>
                  <a:srgbClr val="1E2426"/>
                </a:solidFill>
              </a:defRPr>
            </a:pPr>
            <a:r>
              <a:rPr sz="1875">
                <a:solidFill>
                  <a:srgbClr val="1E2426"/>
                </a:solidFill>
              </a:rPr>
              <a:t>再做原题：题目不是孤立训练，解析要回到文章</a:t>
            </a:r>
            <a:endParaRPr sz="1875">
              <a:solidFill>
                <a:srgbClr val="1E2426"/>
              </a:solidFill>
            </a:endParaRPr>
          </a:p>
          <a:p>
            <a:pPr marL="0" indent="0">
              <a:lnSpc>
                <a:spcPct val="118000"/>
              </a:lnSpc>
              <a:spcAft>
                <a:spcPts val="5"/>
              </a:spcAft>
              <a:buNone/>
              <a:defRPr sz="1875">
                <a:solidFill>
                  <a:srgbClr val="1E2426"/>
                </a:solidFill>
              </a:defRPr>
            </a:pPr>
            <a:r>
              <a:rPr sz="1875">
                <a:solidFill>
                  <a:srgbClr val="1E2426"/>
                </a:solidFill>
              </a:rPr>
              <a:t>最后精讲标题题：比较两个标题的内容范围、主题深度和表达效果</a:t>
            </a:r>
            <a:endParaRPr sz="1875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6B4E71"/>
                </a:solidFill>
              </a:defRPr>
            </a:pPr>
            <a:r>
              <a:rPr sz="1350" b="1" i="0">
                <a:solidFill>
                  <a:srgbClr val="6B4E71"/>
                </a:solidFill>
              </a:rPr>
              <a:t>材料三：沙粒与云雀 · 原文</a:t>
            </a:r>
            <a:endParaRPr sz="1350" b="1" i="0">
              <a:solidFill>
                <a:srgbClr val="6B4E71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29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819150"/>
            <a:ext cx="923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916"/>
          </a:bodyPr>
          <a:lstStyle/>
          <a:p>
            <a:pPr algn="l">
              <a:lnSpc>
                <a:spcPct val="104000"/>
              </a:lnSpc>
              <a:buNone/>
              <a:defRPr sz="2325" b="1" i="0">
                <a:solidFill>
                  <a:srgbClr val="1E2426"/>
                </a:solidFill>
              </a:defRPr>
            </a:pPr>
            <a:r>
              <a:rPr sz="2325" b="1" i="0">
                <a:solidFill>
                  <a:srgbClr val="1E2426"/>
                </a:solidFill>
              </a:rPr>
              <a:t>原文阅读 1/3</a:t>
            </a:r>
            <a:endParaRPr sz="2325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257300"/>
            <a:ext cx="971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9906"/>
          </a:bodyPr>
          <a:lstStyle/>
          <a:p>
            <a:pPr algn="l">
              <a:lnSpc>
                <a:spcPct val="115000"/>
              </a:lnSpc>
              <a:buNone/>
              <a:defRPr sz="1275" b="0" i="0">
                <a:solidFill>
                  <a:srgbClr val="697276"/>
                </a:solidFill>
              </a:defRPr>
            </a:pPr>
            <a:r>
              <a:rPr sz="1275" b="0" i="0">
                <a:solidFill>
                  <a:srgbClr val="697276"/>
                </a:solidFill>
              </a:rPr>
              <a:t>先完整读材料，再回到题目。读的时候圈标题关键词、反复对象和结尾句。</a:t>
            </a:r>
            <a:endParaRPr sz="127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619250"/>
            <a:ext cx="3143250" cy="0"/>
          </a:xfrm>
          <a:prstGeom prst="line">
            <a:avLst/>
          </a:prstGeom>
          <a:noFill/>
          <a:ln w="28575">
            <a:solidFill>
              <a:srgbClr val="6B4E71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742950" y="175260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6B4E71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原文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552450" y="2057400"/>
            <a:ext cx="5429250" cy="4248150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9525">
            <a:solidFill>
              <a:srgbClr val="6B4E7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圆角矩形 11"/>
          <p:cNvSpPr>
            <a:spLocks noGrp="1"/>
          </p:cNvSpPr>
          <p:nvPr/>
        </p:nvSpPr>
        <p:spPr>
          <a:xfrm>
            <a:off x="6210300" y="2057400"/>
            <a:ext cx="5429250" cy="4248150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9525">
            <a:solidFill>
              <a:srgbClr val="6B4E7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/>
        </p:nvSpPr>
        <p:spPr>
          <a:xfrm>
            <a:off x="781050" y="2247900"/>
            <a:ext cx="4972050" cy="386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_____________________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沙粒给云雀的信：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亲爱的云雀，我在给你写信。你收到的信多吗？我从来没有收到过信。因为我是沙粒，是万度苏沙漠成千上万石英质小颗粒中的一粒，如果有人给我写信，他不知道写给谁，沙粒太多了。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自从我打算给别人写信，我想过许多收信人，比如茴香、小红马，想来想去，我想还是给你写封信，以后我们就成了好朋友，对吗？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亲爱的云雀，我听说你还有一个名字叫蒙古百灵，你为什么有两个名字？我就叫沙粒。成千上万的沙粒都叫沙粒。说到这里我有一些苦恼，因为我没有自己的名字。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我拿不准你想不想认识一颗沙粒，但我还是想介绍一下自己。如果你用一只蚂蚁的眼睛来看我，就像看到一个淡黄色的冰块。透明，有香味。那是沙粒才能闻到的香味。</a:t>
            </a:r>
            <a:endParaRPr sz="1095" b="0" i="0">
              <a:solidFill>
                <a:srgbClr val="1E2426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38900" y="2247900"/>
            <a:ext cx="4972050" cy="386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我告诉你一个秘密，在浆果里，蔓越橘比醋栗要甜。这方面你可能比我知道的多。我告诉你这些，是想和你成为朋友。如果想和别人成为朋友，需要送什么礼物呢？你知道，我是一颗沙粒，什么都没有。不结果实，也不会像柳叶那样在风中摇摆。我想开粉色的花朵，这朵花有三个花瓣我就知足了。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我的伙伴说，如果想成为别人的朋友，要懂得好多事。可是我一直待在沙漠里，什么都不知道。有一天，一只比蚂蚁还要小的昆虫，费了很大力气爬上我的头顶，它说，哇，我登上了山顶。这很可笑，但我也感到骄傲，终于有人认为我是一座山了。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我和我的伙伴们白天夜晚都躺在旷野里。当然我们会感觉有些硌，这么多坚硬的沙粒堆在一起肯定硌得慌，但我们不会彼此埋怨。我喜欢观察伙伴，透过它玻璃似的身体看到它身边还有无尽的沙粒，仿佛置身迷宫里面。下雨的时候，雨洒在沙粒上声音清脆，我们被雨水洗干净，像一粒粒宝石。</a:t>
            </a:r>
            <a:endParaRPr sz="109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6B4E71"/>
                </a:solidFill>
              </a:defRPr>
            </a:pPr>
            <a:r>
              <a:rPr sz="1350" b="1" i="0">
                <a:solidFill>
                  <a:srgbClr val="6B4E71"/>
                </a:solidFill>
              </a:rPr>
              <a:t>材料三：沙粒与云雀 · 原文</a:t>
            </a:r>
            <a:endParaRPr sz="1350" b="1" i="0">
              <a:solidFill>
                <a:srgbClr val="6B4E71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30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819150"/>
            <a:ext cx="923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916"/>
          </a:bodyPr>
          <a:lstStyle/>
          <a:p>
            <a:pPr algn="l">
              <a:lnSpc>
                <a:spcPct val="104000"/>
              </a:lnSpc>
              <a:buNone/>
              <a:defRPr sz="2325" b="1" i="0">
                <a:solidFill>
                  <a:srgbClr val="1E2426"/>
                </a:solidFill>
              </a:defRPr>
            </a:pPr>
            <a:r>
              <a:rPr sz="2325" b="1" i="0">
                <a:solidFill>
                  <a:srgbClr val="1E2426"/>
                </a:solidFill>
              </a:rPr>
              <a:t>原文阅读 2/3</a:t>
            </a:r>
            <a:endParaRPr sz="2325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257300"/>
            <a:ext cx="971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9906"/>
          </a:bodyPr>
          <a:lstStyle/>
          <a:p>
            <a:pPr algn="l">
              <a:lnSpc>
                <a:spcPct val="115000"/>
              </a:lnSpc>
              <a:buNone/>
              <a:defRPr sz="1275" b="0" i="0">
                <a:solidFill>
                  <a:srgbClr val="697276"/>
                </a:solidFill>
              </a:defRPr>
            </a:pPr>
            <a:r>
              <a:rPr sz="1275" b="0" i="0">
                <a:solidFill>
                  <a:srgbClr val="697276"/>
                </a:solidFill>
              </a:rPr>
              <a:t>继续读原文，关注材料如何推进内容和主题。</a:t>
            </a:r>
            <a:endParaRPr sz="127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619250"/>
            <a:ext cx="3143250" cy="0"/>
          </a:xfrm>
          <a:prstGeom prst="line">
            <a:avLst/>
          </a:prstGeom>
          <a:noFill/>
          <a:ln w="28575">
            <a:solidFill>
              <a:srgbClr val="6B4E71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742950" y="175260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6B4E71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原文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552450" y="2057400"/>
            <a:ext cx="5429250" cy="4248150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9525">
            <a:solidFill>
              <a:srgbClr val="6B4E7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圆角矩形 11"/>
          <p:cNvSpPr>
            <a:spLocks noGrp="1"/>
          </p:cNvSpPr>
          <p:nvPr/>
        </p:nvSpPr>
        <p:spPr>
          <a:xfrm>
            <a:off x="6210300" y="2057400"/>
            <a:ext cx="5429250" cy="4248150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9525">
            <a:solidFill>
              <a:srgbClr val="6B4E7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/>
        </p:nvSpPr>
        <p:spPr>
          <a:xfrm>
            <a:off x="781050" y="2247900"/>
            <a:ext cx="4972050" cy="386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云雀，你在听我说吗？我希望你对我说的有兴趣。我猜想你从来没有听过沙粒对你说话。你会飞，有机会和花朵交朋友。毕竟能见到花朵，谁在意沙粒呢？说到这里，我有一点伤心，但我们沙粒没有眼泪。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我期待你的回信，可是你回信要写谁收呢？或许你可以这样写：万度苏沙漠给我写信的那粒沙子收。希望我能收到。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亲爱的云雀，我身边的伙伴提醒我，想和别人交朋友，先要赞美。你想得到什么样的赞美？请来信告诉我。你从天空飞过去的时候，我听到了你的歌唱，虽然只听到一个音，但这已经足够。你喉咙里像流淌着泉水，像月光敲打冰湖的窗户。你唱着歌飞走了，你把一句歌词留在一公里的路上，真了不起，可惜我只听到一个音节。</a:t>
            </a:r>
            <a:endParaRPr sz="1095" b="0" i="0">
              <a:solidFill>
                <a:srgbClr val="1E2426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38900" y="2247900"/>
            <a:ext cx="4972050" cy="386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亲爱的云雀，当一颗沙粒就要永久沉默，如果沙粒会说话，会歌唱，沙漠就太喧嚣了。所以上天让歌唱者飞翔，让固守者沉默。但愿你能读完我的信。在全世界的沙粒里，可能我是第一个给你写信的。想到这一点，我高兴得想蹦起来。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亲爱的云雀，祝你快乐地飞翔，快乐地歌唱，祝你两只爪子干干净净。我不知道给朋友写信用哪些词会让对方高兴，你来信多告诉我一些美妙的词汇吧。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给你写信的那颗沙粒。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云雀给沙粒的复信：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亲爱的沙粒，我收到了你的来信。别担心我认不出你。七月份，我从小兴安岭飞往狼居胥山脉，路过了你们那个地方。当时我心里想，这里多么庄严，金色的沙漠有柔美的曲线，这里没有其他东西，全都是洁净的沙子。你想想看，如果你的身旁长着灌木，树下一定会有松鼠、花栗鼠甚至黑熊，臭气熏天。从天空上瞭望，树木遮蔽了地表，看不清蚂蚁、野蜜蜂，更看不清沙粒。</a:t>
            </a:r>
            <a:endParaRPr sz="109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6B4E71"/>
                </a:solidFill>
              </a:defRPr>
            </a:pPr>
            <a:r>
              <a:rPr sz="1350" b="1" i="0">
                <a:solidFill>
                  <a:srgbClr val="6B4E71"/>
                </a:solidFill>
              </a:rPr>
              <a:t>材料三：沙粒与云雀 · 原文</a:t>
            </a:r>
            <a:endParaRPr sz="1350" b="1" i="0">
              <a:solidFill>
                <a:srgbClr val="6B4E71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31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819150"/>
            <a:ext cx="923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916"/>
          </a:bodyPr>
          <a:lstStyle/>
          <a:p>
            <a:pPr algn="l">
              <a:lnSpc>
                <a:spcPct val="104000"/>
              </a:lnSpc>
              <a:buNone/>
              <a:defRPr sz="2325" b="1" i="0">
                <a:solidFill>
                  <a:srgbClr val="1E2426"/>
                </a:solidFill>
              </a:defRPr>
            </a:pPr>
            <a:r>
              <a:rPr sz="2325" b="1" i="0">
                <a:solidFill>
                  <a:srgbClr val="1E2426"/>
                </a:solidFill>
              </a:rPr>
              <a:t>原文阅读 3/3</a:t>
            </a:r>
            <a:endParaRPr sz="2325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257300"/>
            <a:ext cx="971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9906"/>
          </a:bodyPr>
          <a:lstStyle/>
          <a:p>
            <a:pPr algn="l">
              <a:lnSpc>
                <a:spcPct val="115000"/>
              </a:lnSpc>
              <a:buNone/>
              <a:defRPr sz="1275" b="0" i="0">
                <a:solidFill>
                  <a:srgbClr val="697276"/>
                </a:solidFill>
              </a:defRPr>
            </a:pPr>
            <a:r>
              <a:rPr sz="1275" b="0" i="0">
                <a:solidFill>
                  <a:srgbClr val="697276"/>
                </a:solidFill>
              </a:rPr>
              <a:t>继续读原文，关注材料如何推进内容和主题。</a:t>
            </a:r>
            <a:endParaRPr sz="127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619250"/>
            <a:ext cx="3143250" cy="0"/>
          </a:xfrm>
          <a:prstGeom prst="line">
            <a:avLst/>
          </a:prstGeom>
          <a:noFill/>
          <a:ln w="28575">
            <a:solidFill>
              <a:srgbClr val="6B4E71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742950" y="175260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6B4E71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原文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552450" y="2057400"/>
            <a:ext cx="5429250" cy="4248150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9525">
            <a:solidFill>
              <a:srgbClr val="6B4E7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圆角矩形 11"/>
          <p:cNvSpPr>
            <a:spLocks noGrp="1"/>
          </p:cNvSpPr>
          <p:nvPr/>
        </p:nvSpPr>
        <p:spPr>
          <a:xfrm>
            <a:off x="6210300" y="2057400"/>
            <a:ext cx="5429250" cy="4248150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9525">
            <a:solidFill>
              <a:srgbClr val="6B4E7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/>
        </p:nvSpPr>
        <p:spPr>
          <a:xfrm>
            <a:off x="781050" y="2247900"/>
            <a:ext cx="4972050" cy="386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亲爱的沙粒，在我写下上面这些字的时候，我正飞向葱岭。我去做什么？不做什么，所有的地方只是经过之地。我们鸟类并没有目的地，我们飞翔就像你们静静待在沙漠里。飞翔的时候，如果你盯着天上的星星看，如同静静地躺在夜空里，感觉不到自己飞翔。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下面我解答你的疑惑。我是云雀，又叫蒙古百灵，还叫沙百灵。叫什么都无所谓，再送我一百个名字我还是我。我头顶的羽毛栗红色，两只眼睛有棕白色的眉纹，喙土黄色，爪子肉色。这就是我。对你来说，我长得可能太复杂了。没办法，美总是很复杂的。</a:t>
            </a:r>
            <a:endParaRPr sz="1095" b="0" i="0">
              <a:solidFill>
                <a:srgbClr val="1E2426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38900" y="2247900"/>
            <a:ext cx="4972050" cy="386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亲爱的沙粒，你提到了赞美，这里面充满奥妙。如果你想让对方高兴又不违背真实，要学会写诗。比如你说“蒙古百灵是会唱歌的风”，我听了会高兴，这就是赞美。我收到的赞美太少了，远远不够，万物不具备赞美我的才华，我只好自己赞美自己：“云雀，星星融化，也没有你的歌声清脆。”听到这个，我眼睛有一点点湿润。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实际生活中，我经常受冻挨饿，还要忍受干渴。我要去葱岭，但不知道去那里做什么。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我要说的就是这些，可能没什么条理。因为我一边写信，一边飞行，还要提防头顶出现天敌。好了，不说了，我要飞进一片湿润的树林里，去那里捉肥而白的昆虫，捉不到昆虫就吃浆果，然后歌唱。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爱你的云雀，于高加索的黑松林上空。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（节选自鲍尔吉•原野《万物亲近》，有删改）</a:t>
            </a:r>
            <a:endParaRPr sz="109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6B4E71"/>
                </a:solidFill>
              </a:defRPr>
            </a:pPr>
            <a:r>
              <a:rPr sz="1350" b="1" i="0">
                <a:solidFill>
                  <a:srgbClr val="6B4E71"/>
                </a:solidFill>
              </a:rPr>
              <a:t>材料三：沙粒与云雀 · 原题演练</a:t>
            </a:r>
            <a:endParaRPr sz="1350" b="1" i="0">
              <a:solidFill>
                <a:srgbClr val="6B4E71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32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1 题：先思考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先看题目，独立判断或写下关键词；下一步再核对答案。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6B4E71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6B4E71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第1题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6B4E7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690"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（1）下列对本文的理解与分析，不正确的一项是（    ）（3分）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A.本文由沙粒的去信和云雀的回信两部分构成，情感表达真切自然。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B.本文分别从沙粒和云雀的视角表达对自我的认知和对世界的感受。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C.本文中沙粒和云雀对待名字的不同态度，反映了两者的性格差异。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D.本文以书面语为主，语言典雅严谨，含蓄深沉，令读者回味无穷。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F0E7F3"/>
          </a:solidFill>
          <a:ln w="9525">
            <a:solidFill>
              <a:srgbClr val="6B4E7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5010150"/>
            <a:ext cx="1005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2754"/>
          </a:bodyPr>
          <a:lstStyle/>
          <a:p>
            <a:pPr algn="ctr">
              <a:lnSpc>
                <a:spcPct val="115000"/>
              </a:lnSpc>
              <a:buNone/>
              <a:defRPr sz="2250" b="1" i="0">
                <a:solidFill>
                  <a:srgbClr val="6B4E71"/>
                </a:solidFill>
              </a:defRPr>
            </a:pPr>
            <a:r>
              <a:rPr sz="2250" b="1" i="0">
                <a:solidFill>
                  <a:srgbClr val="6B4E71"/>
                </a:solidFill>
              </a:rPr>
              <a:t>下一步显示答案与解析</a:t>
            </a:r>
            <a:endParaRPr sz="2250" b="1" i="0">
              <a:solidFill>
                <a:srgbClr val="6B4E71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6B4E71"/>
                </a:solidFill>
              </a:defRPr>
            </a:pPr>
            <a:r>
              <a:rPr sz="1350" b="1" i="0">
                <a:solidFill>
                  <a:srgbClr val="6B4E71"/>
                </a:solidFill>
              </a:rPr>
              <a:t>材料三：沙粒与云雀 · 原题演练</a:t>
            </a:r>
            <a:endParaRPr sz="1350" b="1" i="0">
              <a:solidFill>
                <a:srgbClr val="6B4E71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33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1 题：答案解析 1/1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核对答案时，先找原文依据，再看评分表达。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6B4E71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6B4E71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第1题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6B4E7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690"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（1）下列对本文的理解与分析，不正确的一项是（    ）（3分）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A.本文由沙粒的去信和云雀的回信两部分构成，情感表达真切自然。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B.本文分别从沙粒和云雀的视角表达对自我的认知和对世界的感受。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C.本文中沙粒和云雀对待名字的不同态度，反映了两者的性格差异。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D.本文以书面语为主，语言典雅严谨，含蓄深沉，令读者回味无穷。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F0E7F3"/>
          </a:solidFill>
          <a:ln w="9525">
            <a:solidFill>
              <a:srgbClr val="6B4E7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4552950"/>
            <a:ext cx="100584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答案与解析</a:t>
            </a:r>
            <a:endParaRPr sz="1275" b="0" i="0">
              <a:solidFill>
                <a:srgbClr val="1E2426"/>
              </a:solidFill>
            </a:endParaRPr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答案：D</a:t>
            </a:r>
            <a:endParaRPr sz="1275" b="0" i="0">
              <a:solidFill>
                <a:srgbClr val="1E2426"/>
              </a:solidFill>
            </a:endParaRPr>
          </a:p>
          <a:p>
            <a:endParaRPr sz="1275"/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【解析】“语言典雅严谨，含蓄深沉”有误，这两封信的语言比较质朴自然，充满童趣。</a:t>
            </a:r>
            <a:endParaRPr sz="127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6B4E71"/>
                </a:solidFill>
              </a:defRPr>
            </a:pPr>
            <a:r>
              <a:rPr sz="1350" b="1" i="0">
                <a:solidFill>
                  <a:srgbClr val="6B4E71"/>
                </a:solidFill>
              </a:rPr>
              <a:t>材料三：沙粒与云雀 · 原题演练</a:t>
            </a:r>
            <a:endParaRPr sz="1350" b="1" i="0">
              <a:solidFill>
                <a:srgbClr val="6B4E71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34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2 题：先思考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先看题目，独立判断或写下关键词；下一步再核对答案。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6B4E71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6B4E71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第2题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6B4E7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（2）你会选沙粒和云雀中哪一个交朋友？请结合它的形象特点说说理由。（4分）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F0E7F3"/>
          </a:solidFill>
          <a:ln w="9525">
            <a:solidFill>
              <a:srgbClr val="6B4E7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5010150"/>
            <a:ext cx="1005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2754"/>
          </a:bodyPr>
          <a:lstStyle/>
          <a:p>
            <a:pPr algn="ctr">
              <a:lnSpc>
                <a:spcPct val="115000"/>
              </a:lnSpc>
              <a:buNone/>
              <a:defRPr sz="2250" b="1" i="0">
                <a:solidFill>
                  <a:srgbClr val="6B4E71"/>
                </a:solidFill>
              </a:defRPr>
            </a:pPr>
            <a:r>
              <a:rPr sz="2250" b="1" i="0">
                <a:solidFill>
                  <a:srgbClr val="6B4E71"/>
                </a:solidFill>
              </a:rPr>
              <a:t>下一步显示答案与解析</a:t>
            </a:r>
            <a:endParaRPr sz="2250" b="1" i="0">
              <a:solidFill>
                <a:srgbClr val="6B4E71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6B4E71"/>
                </a:solidFill>
              </a:defRPr>
            </a:pPr>
            <a:r>
              <a:rPr sz="1350" b="1" i="0">
                <a:solidFill>
                  <a:srgbClr val="6B4E71"/>
                </a:solidFill>
              </a:rPr>
              <a:t>材料三：沙粒与云雀 · 原题演练</a:t>
            </a:r>
            <a:endParaRPr sz="1350" b="1" i="0">
              <a:solidFill>
                <a:srgbClr val="6B4E71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35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2 题：答案解析 1/2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核对答案时，先找原文依据，再看评分表达。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6B4E71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6B4E71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第2题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6B4E7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（2）你会选沙粒和云雀中哪一个交朋友？请结合它的形象特点说说理由。（4分）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F0E7F3"/>
          </a:solidFill>
          <a:ln w="9525">
            <a:solidFill>
              <a:srgbClr val="6B4E7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4552950"/>
            <a:ext cx="100584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答案与解析</a:t>
            </a:r>
            <a:endParaRPr sz="1275" b="0" i="0">
              <a:solidFill>
                <a:srgbClr val="1E2426"/>
              </a:solidFill>
            </a:endParaRPr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示例一:我选沙粒交朋友。理由:①它善良友好(形象特点1分)，例如主动介绍自己/赞美对方/对身边的小伙伴不抱怨(举例分析1分);②它纯真可爱(形象特点1分)，例如希望可以开粉色的花朵/把沙漠看成迷宫/把沙粒看成宝石/为自已被认为是山而骄傲(举例分析1分)。</a:t>
            </a:r>
            <a:endParaRPr sz="127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6B4E71"/>
                </a:solidFill>
              </a:defRPr>
            </a:pPr>
            <a:r>
              <a:rPr sz="1350" b="1" i="0">
                <a:solidFill>
                  <a:srgbClr val="6B4E71"/>
                </a:solidFill>
              </a:rPr>
              <a:t>材料三：沙粒与云雀 · 原题演练</a:t>
            </a:r>
            <a:endParaRPr sz="1350" b="1" i="0">
              <a:solidFill>
                <a:srgbClr val="6B4E71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36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2 题：答案解析 2/2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继续核对本题解析，区分原文依据和得分表达。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6B4E71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6B4E71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第2题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6B4E7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（2）你会选沙粒和云雀中哪一个交朋友？请结合它的形象特点说说理由。（4分）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F0E7F3"/>
          </a:solidFill>
          <a:ln w="9525">
            <a:solidFill>
              <a:srgbClr val="6B4E7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4552950"/>
            <a:ext cx="100584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答案与解析</a:t>
            </a:r>
            <a:endParaRPr sz="1275" b="0" i="0">
              <a:solidFill>
                <a:srgbClr val="1E2426"/>
              </a:solidFill>
            </a:endParaRPr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示例二:我选云雀交朋友。理由:①因为它充满自信(形象特点1分)，例如它认为自己长得美/歌声清脆(举例分析1分);②它真诚友善(形象特点1分)，例如给沙粒回信，认真回应它的问题/告诉沙粒飞翔和静静待着其实是一样的/赞美沙漠庄严柔美、沙粒洁净(举例分析1分)。</a:t>
            </a:r>
            <a:endParaRPr sz="1275" b="0" i="0">
              <a:solidFill>
                <a:srgbClr val="1E2426"/>
              </a:solidFill>
            </a:endParaRPr>
          </a:p>
          <a:p>
            <a:endParaRPr sz="1275"/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(4分。理由每点2分，包括形象特点1分，举例分析1分。任选两点理由，若有其他说法，于文有据言之有理亦可得分)</a:t>
            </a:r>
            <a:endParaRPr sz="127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6B4E71"/>
                </a:solidFill>
              </a:defRPr>
            </a:pPr>
            <a:r>
              <a:rPr sz="1350" b="1" i="0">
                <a:solidFill>
                  <a:srgbClr val="6B4E71"/>
                </a:solidFill>
              </a:rPr>
              <a:t>材料三：沙粒与云雀 · 原题演练</a:t>
            </a:r>
            <a:endParaRPr sz="1350" b="1" i="0">
              <a:solidFill>
                <a:srgbClr val="6B4E71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37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3 题：先思考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先看题目，独立判断或写下关键词；下一步再核对答案。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6B4E71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6B4E71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第3题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6B4E7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2392"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（3）请按照括号中的提示，结合上下文，赏析文中划线句子的表达效果。（4分）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①你喉咙里像流淌着泉水，像月光敲打冰湖的窗户。（从修辞手法的角度）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②当时我心里想，这里多么庄严，金色的沙漠有柔美的曲线，这里没有其他东西，全都是洁净的沙子。（从描写手法的角度）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F0E7F3"/>
          </a:solidFill>
          <a:ln w="9525">
            <a:solidFill>
              <a:srgbClr val="6B4E7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5010150"/>
            <a:ext cx="1005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2754"/>
          </a:bodyPr>
          <a:lstStyle/>
          <a:p>
            <a:pPr algn="ctr">
              <a:lnSpc>
                <a:spcPct val="115000"/>
              </a:lnSpc>
              <a:buNone/>
              <a:defRPr sz="2250" b="1" i="0">
                <a:solidFill>
                  <a:srgbClr val="6B4E71"/>
                </a:solidFill>
              </a:defRPr>
            </a:pPr>
            <a:r>
              <a:rPr sz="2250" b="1" i="0">
                <a:solidFill>
                  <a:srgbClr val="6B4E71"/>
                </a:solidFill>
              </a:rPr>
              <a:t>下一步显示答案与解析</a:t>
            </a:r>
            <a:endParaRPr sz="2250" b="1" i="0">
              <a:solidFill>
                <a:srgbClr val="6B4E71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6B4E71"/>
                </a:solidFill>
              </a:defRPr>
            </a:pPr>
            <a:r>
              <a:rPr sz="1350" b="1" i="0">
                <a:solidFill>
                  <a:srgbClr val="6B4E71"/>
                </a:solidFill>
              </a:rPr>
              <a:t>材料三：沙粒与云雀 · 原题演练</a:t>
            </a:r>
            <a:endParaRPr sz="1350" b="1" i="0">
              <a:solidFill>
                <a:srgbClr val="6B4E71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38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3 题：答案解析 1/3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核对答案时，先找原文依据，再看评分表达。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6B4E71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6B4E71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第3题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6B4E7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2392"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（3）请按照括号中的提示，结合上下文，赏析文中划线句子的表达效果。（4分）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①你喉咙里像流淌着泉水，像月光敲打冰湖的窗户。（从修辞手法的角度）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②当时我心里想，这里多么庄严，金色的沙漠有柔美的曲线，这里没有其他东西，全都是洁净的沙子。（从描写手法的角度）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F0E7F3"/>
          </a:solidFill>
          <a:ln w="9525">
            <a:solidFill>
              <a:srgbClr val="6B4E7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4552950"/>
            <a:ext cx="100584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7726"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答案与解析</a:t>
            </a:r>
            <a:endParaRPr sz="1275" b="0" i="0">
              <a:solidFill>
                <a:srgbClr val="1E2426"/>
              </a:solidFill>
            </a:endParaRPr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①你喉咙里像流淌着泉水，像月光敲打冰湖的窗户。（从修辞手法的角度）</a:t>
            </a:r>
            <a:endParaRPr sz="1275" b="0" i="0">
              <a:solidFill>
                <a:srgbClr val="1E2426"/>
              </a:solidFill>
            </a:endParaRPr>
          </a:p>
          <a:p>
            <a:endParaRPr sz="1275"/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运用比喻，把云雀的歌唱比作泉水流淌和月光敲打冰湖的窗户(修辞手法及运用1分)，形象生动地表现了云雀歌声的清澈灵动(表达效果1分)。</a:t>
            </a:r>
            <a:endParaRPr sz="1275" b="0" i="0">
              <a:solidFill>
                <a:srgbClr val="1E2426"/>
              </a:solidFill>
            </a:endParaRPr>
          </a:p>
          <a:p>
            <a:endParaRPr sz="1275"/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②当时我心里想，这里多么庄严，金色的沙漠有柔美的曲线，这里没有其他东西，全都是洁净的沙子。（从描写手法的角度）</a:t>
            </a:r>
            <a:endParaRPr sz="127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6B4E71"/>
                </a:solidFill>
              </a:defRPr>
            </a:pPr>
            <a:r>
              <a:rPr sz="1350" b="1" i="0">
                <a:solidFill>
                  <a:srgbClr val="6B4E71"/>
                </a:solidFill>
              </a:rPr>
              <a:t>材料三：沙粒与云雀 · 原题演练</a:t>
            </a:r>
            <a:endParaRPr sz="1350" b="1" i="0">
              <a:solidFill>
                <a:srgbClr val="6B4E71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39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3 题：答案解析 2/3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继续核对本题解析，区分原文依据和得分表达。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6B4E71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6B4E71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第3题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6B4E7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2392"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（3）请按照括号中的提示，结合上下文，赏析文中划线句子的表达效果。（4分）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①你喉咙里像流淌着泉水，像月光敲打冰湖的窗户。（从修辞手法的角度）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②当时我心里想，这里多么庄严，金色的沙漠有柔美的曲线，这里没有其他东西，全都是洁净的沙子。（从描写手法的角度）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F0E7F3"/>
          </a:solidFill>
          <a:ln w="9525">
            <a:solidFill>
              <a:srgbClr val="6B4E7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4552950"/>
            <a:ext cx="100584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8332"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答案与解析</a:t>
            </a:r>
            <a:endParaRPr sz="1275" b="0" i="0">
              <a:solidFill>
                <a:srgbClr val="1E2426"/>
              </a:solidFill>
            </a:endParaRPr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示例一：运用景物描写,“金色”表现沙漠的庄严美/“柔美”表现沙漠的曲线美/“洁净”表现沙漠的纯粹美(描写手法及对象特点的1分)，表达云雀对沙漠之美的赞美(表达效果1分)。</a:t>
            </a:r>
            <a:endParaRPr sz="1275" b="0" i="0">
              <a:solidFill>
                <a:srgbClr val="1E2426"/>
              </a:solidFill>
            </a:endParaRPr>
          </a:p>
          <a:p>
            <a:endParaRPr sz="1275"/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示例二：运用白描,“柔美的曲线”用极简的文字勾勒沙漠的轮廓/“全都是洁净的沙子”，简洁地写出沙漠的空阔纯粹(描写手法及对象特点1分)，表达云雀对沙漠之美的赞美(表达效果1分)。</a:t>
            </a:r>
            <a:endParaRPr sz="127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6B4E71"/>
                </a:solidFill>
              </a:defRPr>
            </a:pPr>
            <a:r>
              <a:rPr sz="1350" b="1" i="0">
                <a:solidFill>
                  <a:srgbClr val="6B4E71"/>
                </a:solidFill>
              </a:rPr>
              <a:t>材料三：沙粒与云雀 · 原题演练</a:t>
            </a:r>
            <a:endParaRPr sz="1350" b="1" i="0">
              <a:solidFill>
                <a:srgbClr val="6B4E71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40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3 题：答案解析 3/3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继续核对本题解析，区分原文依据和得分表达。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6B4E71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6B4E71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第3题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6B4E7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2392"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（3）请按照括号中的提示，结合上下文，赏析文中划线句子的表达效果。（4分）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①你喉咙里像流淌着泉水，像月光敲打冰湖的窗户。（从修辞手法的角度）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②当时我心里想，这里多么庄严，金色的沙漠有柔美的曲线，这里没有其他东西，全都是洁净的沙子。（从描写手法的角度）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F0E7F3"/>
          </a:solidFill>
          <a:ln w="9525">
            <a:solidFill>
              <a:srgbClr val="6B4E7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4552950"/>
            <a:ext cx="100584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答案与解析</a:t>
            </a:r>
            <a:endParaRPr sz="1275" b="0" i="0">
              <a:solidFill>
                <a:srgbClr val="1E2426"/>
              </a:solidFill>
            </a:endParaRPr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示例三：运用心理描写，写出了云雀飞过沙漠时的心理感受(描写手法及对象特点1分)；表现了云雀对沙漠的欣赏赞美之情/对沙粒的友善(表达效果1分)。</a:t>
            </a:r>
            <a:endParaRPr sz="127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6B4E71"/>
                </a:solidFill>
              </a:defRPr>
            </a:pPr>
            <a:r>
              <a:rPr sz="1350" b="1" i="0">
                <a:solidFill>
                  <a:srgbClr val="6B4E71"/>
                </a:solidFill>
              </a:rPr>
              <a:t>材料三：沙粒与云雀 · 原题演练</a:t>
            </a:r>
            <a:endParaRPr sz="1350" b="1" i="0">
              <a:solidFill>
                <a:srgbClr val="6B4E71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41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4 题：先思考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先看题目，独立判断或写下关键词；下一步再核对答案。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6B4E71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6B4E71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第4题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6B4E7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（4）请从以下两个标题中选择一个作为本文的标题，并说明理由。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①《让我们成为朋友》            ②《飞翔的歌唱者和沉默的固守者》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F0E7F3"/>
          </a:solidFill>
          <a:ln w="9525">
            <a:solidFill>
              <a:srgbClr val="6B4E7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5010150"/>
            <a:ext cx="1005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2754"/>
          </a:bodyPr>
          <a:lstStyle/>
          <a:p>
            <a:pPr algn="ctr">
              <a:lnSpc>
                <a:spcPct val="115000"/>
              </a:lnSpc>
              <a:buNone/>
              <a:defRPr sz="2250" b="1" i="0">
                <a:solidFill>
                  <a:srgbClr val="6B4E71"/>
                </a:solidFill>
              </a:defRPr>
            </a:pPr>
            <a:r>
              <a:rPr sz="2250" b="1" i="0">
                <a:solidFill>
                  <a:srgbClr val="6B4E71"/>
                </a:solidFill>
              </a:rPr>
              <a:t>下一步显示答案与解析</a:t>
            </a:r>
            <a:endParaRPr sz="2250" b="1" i="0">
              <a:solidFill>
                <a:srgbClr val="6B4E71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6B4E71"/>
                </a:solidFill>
              </a:defRPr>
            </a:pPr>
            <a:r>
              <a:rPr sz="1350" b="1" i="0">
                <a:solidFill>
                  <a:srgbClr val="6B4E71"/>
                </a:solidFill>
              </a:rPr>
              <a:t>材料三：沙粒与云雀 · 原题演练</a:t>
            </a:r>
            <a:endParaRPr sz="1350" b="1" i="0">
              <a:solidFill>
                <a:srgbClr val="6B4E71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42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4 题：答案解析 1/2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核对答案时，先找原文依据，再看评分表达。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6B4E71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6B4E71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第4题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6B4E7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（4）请从以下两个标题中选择一个作为本文的标题，并说明理由。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①《让我们成为朋友》            ②《飞翔的歌唱者和沉默的固守者》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F0E7F3"/>
          </a:solidFill>
          <a:ln w="9525">
            <a:solidFill>
              <a:srgbClr val="6B4E7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4552950"/>
            <a:ext cx="100584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答案与解析</a:t>
            </a:r>
            <a:endParaRPr sz="1275" b="0" i="0">
              <a:solidFill>
                <a:srgbClr val="1E2426"/>
              </a:solidFill>
            </a:endParaRPr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示例一：我选①《让我们成为朋友》。理由:(1)紧扣文本内容，沙粒多次表达交朋友的愿望，云雀的真诚回复也表达了这种愿望(2分)。(2)切合文本主题，表达万物沟通交流、亲近友好的愿望(2分)。(3)使用祈使句，直白热烈，充分表达沙粒、云雀双方心愿/交谈的口吻与文本的书信形式相宜/亲切的语气与文本的语言风格相宜(2分)。</a:t>
            </a:r>
            <a:endParaRPr sz="127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6B4E71"/>
                </a:solidFill>
              </a:defRPr>
            </a:pPr>
            <a:r>
              <a:rPr sz="1350" b="1" i="0">
                <a:solidFill>
                  <a:srgbClr val="6B4E71"/>
                </a:solidFill>
              </a:rPr>
              <a:t>材料三：沙粒与云雀 · 原题演练</a:t>
            </a:r>
            <a:endParaRPr sz="1350" b="1" i="0">
              <a:solidFill>
                <a:srgbClr val="6B4E71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43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4 题：答案解析 2/2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继续核对本题解析，区分原文依据和得分表达。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6B4E71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6B4E71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第4题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6B4E7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（4）请从以下两个标题中选择一个作为本文的标题，并说明理由。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①《让我们成为朋友》            ②《飞翔的歌唱者和沉默的固守者》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F0E7F3"/>
          </a:solidFill>
          <a:ln w="9525">
            <a:solidFill>
              <a:srgbClr val="6B4E7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4552950"/>
            <a:ext cx="100584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8332"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答案与解析</a:t>
            </a:r>
            <a:endParaRPr sz="1275" b="0" i="0">
              <a:solidFill>
                <a:srgbClr val="1E2426"/>
              </a:solidFill>
            </a:endParaRPr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示例二：我选②《飞翔的歌唱者和沉默的固守者》。理由:(1)内容上，准确概括两者的特点:云雀是飞翔的歌唱者，沙粒是沉默的固守者(2分)。(2)暗含文本主题，引发对动与静、歌唱与沉默的思考(2分)。(3)运用一组对比的短语“飞翔的歌唱者”“沉默的固守者”，形成悬念，吸引读者的阅读兴趣/将两个短语加以并列，与两封书信的视角相呼应/含蓄深沉，蕴含哲思(2分)。</a:t>
            </a:r>
            <a:endParaRPr sz="1275" b="0" i="0">
              <a:solidFill>
                <a:srgbClr val="1E2426"/>
              </a:solidFill>
            </a:endParaRPr>
          </a:p>
          <a:p>
            <a:endParaRPr sz="1275"/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(6分。内容方面2分，主题方面2分，语言方面2分)</a:t>
            </a:r>
            <a:endParaRPr sz="127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6B4E71"/>
                </a:solidFill>
              </a:defRPr>
            </a:pPr>
            <a:r>
              <a:rPr sz="1350" b="1" i="0">
                <a:solidFill>
                  <a:srgbClr val="6B4E71"/>
                </a:solidFill>
              </a:rPr>
              <a:t>材料三：沙粒与云雀 · 标题题</a:t>
            </a:r>
            <a:endParaRPr sz="1350" b="1" i="0">
              <a:solidFill>
                <a:srgbClr val="6B4E71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44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990600"/>
            <a:ext cx="9239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6909"/>
          </a:bodyPr>
          <a:lstStyle/>
          <a:p>
            <a:pPr algn="l">
              <a:lnSpc>
                <a:spcPct val="105000"/>
              </a:lnSpc>
              <a:buNone/>
              <a:defRPr sz="2850" b="1" i="0">
                <a:solidFill>
                  <a:srgbClr val="1E2426"/>
                </a:solidFill>
              </a:defRPr>
            </a:pPr>
            <a:r>
              <a:rPr sz="2850" b="1" i="0">
                <a:solidFill>
                  <a:srgbClr val="1E2426"/>
                </a:solidFill>
              </a:rPr>
              <a:t>标题题先判断，不急着看解析</a:t>
            </a:r>
            <a:endParaRPr sz="28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406"/>
          </a:bodyPr>
          <a:lstStyle/>
          <a:p>
            <a:pPr algn="l">
              <a:lnSpc>
                <a:spcPct val="115000"/>
              </a:lnSpc>
              <a:buNone/>
              <a:defRPr sz="1500" b="0" i="0">
                <a:solidFill>
                  <a:srgbClr val="697276"/>
                </a:solidFill>
              </a:defRPr>
            </a:pPr>
            <a:r>
              <a:rPr sz="1500" b="0" i="0">
                <a:solidFill>
                  <a:srgbClr val="697276"/>
                </a:solidFill>
              </a:rPr>
              <a:t>请学生先选，再说出一个文本依据。</a:t>
            </a:r>
            <a:endParaRPr sz="1500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2038350"/>
            <a:ext cx="3143250" cy="0"/>
          </a:xfrm>
          <a:prstGeom prst="line">
            <a:avLst/>
          </a:prstGeom>
          <a:noFill/>
          <a:ln w="28575">
            <a:solidFill>
              <a:srgbClr val="6B4E71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1257300" y="2895600"/>
            <a:ext cx="4476750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E6B6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圆角矩形 10"/>
          <p:cNvSpPr>
            <a:spLocks noGrp="1"/>
          </p:cNvSpPr>
          <p:nvPr/>
        </p:nvSpPr>
        <p:spPr>
          <a:xfrm>
            <a:off x="1485900" y="3190875"/>
            <a:ext cx="609600" cy="323850"/>
          </a:xfrm>
          <a:prstGeom prst="roundRect">
            <a:avLst>
              <a:gd name="adj" fmla="val 50000"/>
            </a:avLst>
          </a:prstGeom>
          <a:solidFill>
            <a:srgbClr val="0E6B67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①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305050" y="310515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9710"/>
          </a:bodyPr>
          <a:lstStyle/>
          <a:p>
            <a:pPr algn="ctr">
              <a:lnSpc>
                <a:spcPct val="115000"/>
              </a:lnSpc>
              <a:buNone/>
              <a:defRPr sz="1875" b="1" i="0">
                <a:solidFill>
                  <a:srgbClr val="1E2426"/>
                </a:solidFill>
              </a:defRPr>
            </a:pPr>
            <a:r>
              <a:rPr sz="1875" b="1" i="0">
                <a:solidFill>
                  <a:srgbClr val="1E2426"/>
                </a:solidFill>
              </a:rPr>
              <a:t>让我们成为朋友</a:t>
            </a:r>
            <a:endParaRPr sz="1875" b="1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305550" y="2895600"/>
            <a:ext cx="4476750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6B4E7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圆角矩形 13"/>
          <p:cNvSpPr>
            <a:spLocks noGrp="1"/>
          </p:cNvSpPr>
          <p:nvPr/>
        </p:nvSpPr>
        <p:spPr>
          <a:xfrm>
            <a:off x="6534150" y="3190875"/>
            <a:ext cx="609600" cy="323850"/>
          </a:xfrm>
          <a:prstGeom prst="roundRect">
            <a:avLst>
              <a:gd name="adj" fmla="val 50000"/>
            </a:avLst>
          </a:prstGeom>
          <a:solidFill>
            <a:srgbClr val="6B4E71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②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353300" y="310515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1650" b="1" i="0">
                <a:solidFill>
                  <a:srgbClr val="1E2426"/>
                </a:solidFill>
              </a:defRPr>
            </a:pPr>
            <a:r>
              <a:rPr sz="1650" b="1" i="0">
                <a:solidFill>
                  <a:srgbClr val="1E2426"/>
                </a:solidFill>
              </a:rPr>
              <a:t>飞翔的歌唱者和沉默的固守者</a:t>
            </a:r>
            <a:endParaRPr sz="1650" b="1" i="0">
              <a:solidFill>
                <a:srgbClr val="1E2426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1962150" y="4743450"/>
            <a:ext cx="8267700" cy="800100"/>
          </a:xfrm>
          <a:prstGeom prst="roundRect">
            <a:avLst>
              <a:gd name="adj" fmla="val 19048"/>
            </a:avLst>
          </a:prstGeom>
          <a:solidFill>
            <a:srgbClr val="E7ECF7"/>
          </a:solidFill>
          <a:ln w="9525">
            <a:solidFill>
              <a:srgbClr val="6B4E7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矩形 16"/>
          <p:cNvSpPr>
            <a:spLocks noGrp="1"/>
          </p:cNvSpPr>
          <p:nvPr/>
        </p:nvSpPr>
        <p:spPr>
          <a:xfrm>
            <a:off x="2362200" y="4972050"/>
            <a:ext cx="752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725"/>
          </a:bodyPr>
          <a:lstStyle/>
          <a:p>
            <a:pPr algn="ctr">
              <a:lnSpc>
                <a:spcPct val="115000"/>
              </a:lnSpc>
              <a:buNone/>
              <a:defRPr sz="1875" b="1" i="0">
                <a:solidFill>
                  <a:srgbClr val="6B4E71"/>
                </a:solidFill>
              </a:defRPr>
            </a:pPr>
            <a:r>
              <a:rPr sz="1875" b="1" i="0">
                <a:solidFill>
                  <a:srgbClr val="6B4E71"/>
                </a:solidFill>
              </a:rPr>
              <a:t>先选：你准备从情感愿望讲，还是从形象对比讲？</a:t>
            </a:r>
            <a:endParaRPr sz="1875" b="1" i="0">
              <a:solidFill>
                <a:srgbClr val="6B4E71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6B4E7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6B4E71"/>
                </a:solidFill>
              </a:defRPr>
            </a:pPr>
            <a:r>
              <a:rPr sz="1350" b="1" i="0">
                <a:solidFill>
                  <a:srgbClr val="6B4E71"/>
                </a:solidFill>
              </a:rPr>
              <a:t>材料三：沙粒与云雀 · 标题题解析</a:t>
            </a:r>
            <a:endParaRPr sz="1350" b="1" i="0">
              <a:solidFill>
                <a:srgbClr val="6B4E71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45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990600"/>
            <a:ext cx="9239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6909"/>
          </a:bodyPr>
          <a:lstStyle/>
          <a:p>
            <a:pPr algn="l">
              <a:lnSpc>
                <a:spcPct val="105000"/>
              </a:lnSpc>
              <a:buNone/>
              <a:defRPr sz="2850" b="1" i="0">
                <a:solidFill>
                  <a:srgbClr val="1E2426"/>
                </a:solidFill>
              </a:defRPr>
            </a:pPr>
            <a:r>
              <a:rPr sz="2850" b="1" i="0">
                <a:solidFill>
                  <a:srgbClr val="1E2426"/>
                </a:solidFill>
              </a:rPr>
              <a:t>解析：两个标题都能选，关键是角度自洽</a:t>
            </a:r>
            <a:endParaRPr sz="28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406"/>
          </a:bodyPr>
          <a:lstStyle/>
          <a:p>
            <a:pPr algn="l">
              <a:lnSpc>
                <a:spcPct val="115000"/>
              </a:lnSpc>
              <a:buNone/>
              <a:defRPr sz="1500" b="0" i="0">
                <a:solidFill>
                  <a:srgbClr val="697276"/>
                </a:solidFill>
              </a:defRPr>
            </a:pPr>
            <a:r>
              <a:rPr sz="1500" b="0" i="0">
                <a:solidFill>
                  <a:srgbClr val="697276"/>
                </a:solidFill>
              </a:rPr>
              <a:t>开放题不是找唯一答案，而是看证据能否支撑选择。</a:t>
            </a:r>
            <a:endParaRPr sz="1500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2038350"/>
            <a:ext cx="3143250" cy="0"/>
          </a:xfrm>
          <a:prstGeom prst="line">
            <a:avLst/>
          </a:prstGeom>
          <a:noFill/>
          <a:ln w="28575">
            <a:solidFill>
              <a:srgbClr val="6B4E71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76300" y="2609850"/>
            <a:ext cx="4572000" cy="990600"/>
          </a:xfrm>
          <a:prstGeom prst="roundRect">
            <a:avLst>
              <a:gd name="adj" fmla="val 15385"/>
            </a:avLst>
          </a:prstGeom>
          <a:solidFill>
            <a:srgbClr val="DFF1EA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1104900" y="27813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1594"/>
          </a:bodyPr>
          <a:lstStyle/>
          <a:p>
            <a:pPr algn="l">
              <a:lnSpc>
                <a:spcPct val="115000"/>
              </a:lnSpc>
              <a:buNone/>
              <a:defRPr sz="1800" b="1" i="0">
                <a:solidFill>
                  <a:srgbClr val="0E6B67"/>
                </a:solidFill>
              </a:defRPr>
            </a:pPr>
            <a:r>
              <a:rPr sz="1800" b="1" i="0">
                <a:solidFill>
                  <a:srgbClr val="0E6B67"/>
                </a:solidFill>
              </a:rPr>
              <a:t>标题①</a:t>
            </a:r>
            <a:endParaRPr sz="1800" b="1" i="0">
              <a:solidFill>
                <a:srgbClr val="0E6B67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190750" y="280035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859"/>
          </a:bodyPr>
          <a:lstStyle/>
          <a:p>
            <a:pPr algn="l">
              <a:lnSpc>
                <a:spcPct val="118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紧扣沙粒想交朋友、云雀真诚回信，突出万物沟通亲近。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096000" y="2609850"/>
            <a:ext cx="4572000" cy="990600"/>
          </a:xfrm>
          <a:prstGeom prst="roundRect">
            <a:avLst>
              <a:gd name="adj" fmla="val 15385"/>
            </a:avLst>
          </a:prstGeom>
          <a:solidFill>
            <a:srgbClr val="E7ECF7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6324600" y="27813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1594"/>
          </a:bodyPr>
          <a:lstStyle/>
          <a:p>
            <a:pPr algn="l">
              <a:lnSpc>
                <a:spcPct val="115000"/>
              </a:lnSpc>
              <a:buNone/>
              <a:defRPr sz="1800" b="1" i="0">
                <a:solidFill>
                  <a:srgbClr val="39527A"/>
                </a:solidFill>
              </a:defRPr>
            </a:pPr>
            <a:r>
              <a:rPr sz="1800" b="1" i="0">
                <a:solidFill>
                  <a:srgbClr val="39527A"/>
                </a:solidFill>
              </a:rPr>
              <a:t>语言</a:t>
            </a:r>
            <a:endParaRPr sz="1800" b="1" i="0">
              <a:solidFill>
                <a:srgbClr val="39527A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410450" y="280035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859"/>
          </a:bodyPr>
          <a:lstStyle/>
          <a:p>
            <a:pPr algn="l">
              <a:lnSpc>
                <a:spcPct val="118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祈使句语气亲切，和书信体、童趣语言相宜。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76300" y="4000500"/>
            <a:ext cx="4572000" cy="990600"/>
          </a:xfrm>
          <a:prstGeom prst="roundRect">
            <a:avLst>
              <a:gd name="adj" fmla="val 15385"/>
            </a:avLst>
          </a:prstGeom>
          <a:solidFill>
            <a:srgbClr val="FFF0CF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矩形 16"/>
          <p:cNvSpPr>
            <a:spLocks noGrp="1"/>
          </p:cNvSpPr>
          <p:nvPr/>
        </p:nvSpPr>
        <p:spPr>
          <a:xfrm>
            <a:off x="1104900" y="417195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1594"/>
          </a:bodyPr>
          <a:lstStyle/>
          <a:p>
            <a:pPr algn="l">
              <a:lnSpc>
                <a:spcPct val="115000"/>
              </a:lnSpc>
              <a:buNone/>
              <a:defRPr sz="1800" b="1" i="0">
                <a:solidFill>
                  <a:srgbClr val="6B4E71"/>
                </a:solidFill>
              </a:defRPr>
            </a:pPr>
            <a:r>
              <a:rPr sz="1800" b="1" i="0">
                <a:solidFill>
                  <a:srgbClr val="6B4E71"/>
                </a:solidFill>
              </a:rPr>
              <a:t>标题②</a:t>
            </a:r>
            <a:endParaRPr sz="1800" b="1" i="0">
              <a:solidFill>
                <a:srgbClr val="6B4E71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190750" y="419100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859"/>
          </a:bodyPr>
          <a:lstStyle/>
          <a:p>
            <a:pPr algn="l">
              <a:lnSpc>
                <a:spcPct val="118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概括云雀飞翔歌唱、沙粒沉默固守的特点。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096000" y="4000500"/>
            <a:ext cx="4572000" cy="990600"/>
          </a:xfrm>
          <a:prstGeom prst="roundRect">
            <a:avLst>
              <a:gd name="adj" fmla="val 15385"/>
            </a:avLst>
          </a:prstGeom>
          <a:solidFill>
            <a:srgbClr val="F0E7F3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0" name="矩形 19"/>
          <p:cNvSpPr>
            <a:spLocks noGrp="1"/>
          </p:cNvSpPr>
          <p:nvPr/>
        </p:nvSpPr>
        <p:spPr>
          <a:xfrm>
            <a:off x="6324600" y="417195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1594"/>
          </a:bodyPr>
          <a:lstStyle/>
          <a:p>
            <a:pPr algn="l">
              <a:lnSpc>
                <a:spcPct val="115000"/>
              </a:lnSpc>
              <a:buNone/>
              <a:defRPr sz="1800" b="1" i="0">
                <a:solidFill>
                  <a:srgbClr val="C98928"/>
                </a:solidFill>
              </a:defRPr>
            </a:pPr>
            <a:r>
              <a:rPr sz="1800" b="1" i="0">
                <a:solidFill>
                  <a:srgbClr val="C98928"/>
                </a:solidFill>
              </a:rPr>
              <a:t>哲理</a:t>
            </a:r>
            <a:endParaRPr sz="1800" b="1" i="0">
              <a:solidFill>
                <a:srgbClr val="C98928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410450" y="419100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957"/>
          </a:bodyPr>
          <a:lstStyle/>
          <a:p>
            <a:pPr algn="l">
              <a:lnSpc>
                <a:spcPct val="118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引发对动与静、歌唱与沉默的思考。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352550" y="5657850"/>
            <a:ext cx="9486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6221"/>
          </a:bodyPr>
          <a:lstStyle/>
          <a:p>
            <a:pPr algn="ctr">
              <a:lnSpc>
                <a:spcPct val="115000"/>
              </a:lnSpc>
              <a:buNone/>
              <a:defRPr sz="2025" b="1" i="0">
                <a:solidFill>
                  <a:srgbClr val="6B4E71"/>
                </a:solidFill>
              </a:defRPr>
            </a:pPr>
            <a:r>
              <a:rPr sz="2025" b="1" i="0">
                <a:solidFill>
                  <a:srgbClr val="6B4E71"/>
                </a:solidFill>
              </a:rPr>
              <a:t>这类题要先说“我选的角度”，再用原文坐实。</a:t>
            </a:r>
            <a:endParaRPr sz="2025" b="1" i="0">
              <a:solidFill>
                <a:srgbClr val="6B4E71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C98928"/>
                </a:solidFill>
              </a:defRPr>
            </a:pPr>
            <a:r>
              <a:rPr sz="1350" b="1" i="0">
                <a:solidFill>
                  <a:srgbClr val="C98928"/>
                </a:solidFill>
              </a:rPr>
              <a:t>材料四：大地的滋味</a:t>
            </a:r>
            <a:endParaRPr sz="1350" b="1" i="0">
              <a:solidFill>
                <a:srgbClr val="C9892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46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238250"/>
            <a:ext cx="666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6875"/>
          </a:bodyPr>
          <a:lstStyle/>
          <a:p>
            <a:pPr algn="l">
              <a:lnSpc>
                <a:spcPct val="115000"/>
              </a:lnSpc>
              <a:buNone/>
              <a:defRPr sz="1725" b="1" i="0">
                <a:solidFill>
                  <a:srgbClr val="C98928"/>
                </a:solidFill>
              </a:defRPr>
            </a:pPr>
            <a:r>
              <a:rPr sz="1725" b="1" i="0">
                <a:solidFill>
                  <a:srgbClr val="C98928"/>
                </a:solidFill>
              </a:rPr>
              <a:t>4. （2026•荔湾区校级二模）阅读下面文字，完成问题。</a:t>
            </a:r>
            <a:endParaRPr sz="1725" b="1" i="0">
              <a:solidFill>
                <a:srgbClr val="C98928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23900" y="1790700"/>
            <a:ext cx="8953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8000"/>
              </a:lnSpc>
              <a:buNone/>
              <a:defRPr sz="3150" b="1" i="0">
                <a:solidFill>
                  <a:srgbClr val="1E2426"/>
                </a:solidFill>
              </a:defRPr>
            </a:pPr>
            <a:r>
              <a:rPr sz="3150" b="1" i="0">
                <a:solidFill>
                  <a:srgbClr val="1E2426"/>
                </a:solidFill>
              </a:rPr>
              <a:t>文采不是唯一标准，标题更要能统领全文</a:t>
            </a:r>
            <a:endParaRPr sz="3150" b="1" i="0">
              <a:solidFill>
                <a:srgbClr val="1E2426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990600" y="3333750"/>
            <a:ext cx="9620250" cy="1428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10" name="矩形 9"/>
          <p:cNvSpPr>
            <a:spLocks noGrp="1"/>
          </p:cNvSpPr>
          <p:nvPr/>
        </p:nvSpPr>
        <p:spPr>
          <a:xfrm>
            <a:off x="1390650" y="3638550"/>
            <a:ext cx="8763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73559"/>
          </a:bodyPr>
          <a:lstStyle/>
          <a:p>
            <a:pPr marL="0" indent="0">
              <a:lnSpc>
                <a:spcPct val="118000"/>
              </a:lnSpc>
              <a:spcAft>
                <a:spcPts val="5"/>
              </a:spcAft>
              <a:buNone/>
              <a:defRPr sz="1875">
                <a:solidFill>
                  <a:srgbClr val="1E2426"/>
                </a:solidFill>
              </a:defRPr>
            </a:pPr>
            <a:r>
              <a:rPr sz="1875">
                <a:solidFill>
                  <a:srgbClr val="1E2426"/>
                </a:solidFill>
              </a:rPr>
              <a:t>先读原文：圈标题关键词可能对应的内容</a:t>
            </a:r>
            <a:endParaRPr sz="1875">
              <a:solidFill>
                <a:srgbClr val="1E2426"/>
              </a:solidFill>
            </a:endParaRPr>
          </a:p>
          <a:p>
            <a:pPr marL="0" indent="0">
              <a:lnSpc>
                <a:spcPct val="118000"/>
              </a:lnSpc>
              <a:spcAft>
                <a:spcPts val="5"/>
              </a:spcAft>
              <a:buNone/>
              <a:defRPr sz="1875">
                <a:solidFill>
                  <a:srgbClr val="1E2426"/>
                </a:solidFill>
              </a:defRPr>
            </a:pPr>
            <a:r>
              <a:rPr sz="1875">
                <a:solidFill>
                  <a:srgbClr val="1E2426"/>
                </a:solidFill>
              </a:rPr>
              <a:t>再做原题：题目不是孤立训练，解析要回到文章</a:t>
            </a:r>
            <a:endParaRPr sz="1875">
              <a:solidFill>
                <a:srgbClr val="1E2426"/>
              </a:solidFill>
            </a:endParaRPr>
          </a:p>
          <a:p>
            <a:pPr marL="0" indent="0">
              <a:lnSpc>
                <a:spcPct val="118000"/>
              </a:lnSpc>
              <a:spcAft>
                <a:spcPts val="5"/>
              </a:spcAft>
              <a:buNone/>
              <a:defRPr sz="1875">
                <a:solidFill>
                  <a:srgbClr val="1E2426"/>
                </a:solidFill>
              </a:defRPr>
            </a:pPr>
            <a:r>
              <a:rPr sz="1875">
                <a:solidFill>
                  <a:srgbClr val="1E2426"/>
                </a:solidFill>
              </a:rPr>
              <a:t>最后精讲标题题：比较两个标题的内容范围、主题深度和表达效果</a:t>
            </a:r>
            <a:endParaRPr sz="1875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C98928"/>
                </a:solidFill>
              </a:defRPr>
            </a:pPr>
            <a:r>
              <a:rPr sz="1350" b="1" i="0">
                <a:solidFill>
                  <a:srgbClr val="C98928"/>
                </a:solidFill>
              </a:rPr>
              <a:t>材料四：大地的滋味 · 原文</a:t>
            </a:r>
            <a:endParaRPr sz="1350" b="1" i="0">
              <a:solidFill>
                <a:srgbClr val="C9892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47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819150"/>
            <a:ext cx="923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916"/>
          </a:bodyPr>
          <a:lstStyle/>
          <a:p>
            <a:pPr algn="l">
              <a:lnSpc>
                <a:spcPct val="104000"/>
              </a:lnSpc>
              <a:buNone/>
              <a:defRPr sz="2325" b="1" i="0">
                <a:solidFill>
                  <a:srgbClr val="1E2426"/>
                </a:solidFill>
              </a:defRPr>
            </a:pPr>
            <a:r>
              <a:rPr sz="2325" b="1" i="0">
                <a:solidFill>
                  <a:srgbClr val="1E2426"/>
                </a:solidFill>
              </a:rPr>
              <a:t>原文阅读 1/3</a:t>
            </a:r>
            <a:endParaRPr sz="2325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257300"/>
            <a:ext cx="971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9906"/>
          </a:bodyPr>
          <a:lstStyle/>
          <a:p>
            <a:pPr algn="l">
              <a:lnSpc>
                <a:spcPct val="115000"/>
              </a:lnSpc>
              <a:buNone/>
              <a:defRPr sz="1275" b="0" i="0">
                <a:solidFill>
                  <a:srgbClr val="697276"/>
                </a:solidFill>
              </a:defRPr>
            </a:pPr>
            <a:r>
              <a:rPr sz="1275" b="0" i="0">
                <a:solidFill>
                  <a:srgbClr val="697276"/>
                </a:solidFill>
              </a:rPr>
              <a:t>先完整读材料，再回到题目。读的时候圈标题关键词、反复对象和结尾句。</a:t>
            </a:r>
            <a:endParaRPr sz="127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619250"/>
            <a:ext cx="3143250" cy="0"/>
          </a:xfrm>
          <a:prstGeom prst="line">
            <a:avLst/>
          </a:prstGeom>
          <a:noFill/>
          <a:ln w="28575">
            <a:solidFill>
              <a:srgbClr val="C98928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742950" y="175260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C9892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原文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552450" y="2057400"/>
            <a:ext cx="5429250" cy="4248150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圆角矩形 11"/>
          <p:cNvSpPr>
            <a:spLocks noGrp="1"/>
          </p:cNvSpPr>
          <p:nvPr/>
        </p:nvSpPr>
        <p:spPr>
          <a:xfrm>
            <a:off x="6210300" y="2057400"/>
            <a:ext cx="5429250" cy="4248150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/>
        </p:nvSpPr>
        <p:spPr>
          <a:xfrm>
            <a:off x="781050" y="2247900"/>
            <a:ext cx="4972050" cy="386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大地的滋味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刘江滨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①《道德经》中云：“五色令人目盲，五音令人耳聋，五味令人口爽。”大地之上，有青黄赤白黑五色入目，有宫商角徵羽五音贯耳，还有酸甜苦辣咸五味咂舌，色、声、味都在大自然之间蓬勃地存在着，呈现着，这是多么神奇瑰丽的景象！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②五味中，甜绝对是当仁不让的一号主角，最受人们喜爱追捧。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③或许我们生下来品啜的第一口乳汁是甜的，那是生命的芬芳，从此烙下深刻的味蕾记忆。大地和上苍也从不吝啬甜品的供应，如草盈野，如花满地。</a:t>
            </a:r>
            <a:endParaRPr sz="1095" b="0" i="0">
              <a:solidFill>
                <a:srgbClr val="1E2426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38900" y="2247900"/>
            <a:ext cx="4972050" cy="386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④每一个童年都有一个“甜蜜史”，跟糖、草秫（shú）、瓜果有关。有一种野草叫茅根，长在坡坡坎坎，它的根茎呈白色，一节一节的，挺长，从地下拔出来擦去泥土搁嘴里嚼一嚼，汁液不盛，甜味也淡淡的。瓜地、果园都有人看管，最诱人也最易吃到嘴的是“甜棒”，即玉米秸（jiē）和高粱秆。浓密的庄稼稞（kē）形成天然的屏障，趁割草的时候，钻进去谁也瞧不见。此时挑着粗壮的秸秆用镰刀砍断，用牙擗（pǐ）去一条一条篾皮，一口一口咔嚓咔嚓大嚼起来，满口甜汁，妙不可言。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⑤大地上的植物结出的瓜果庶几都是甜的，甜瓜、西瓜，苹果，桃子、梨子、香蕉、葡萄……只不过甜味浓淡不一、纯度不同。人们醉心于甜味给舌头和口腔带来的美妙感受，并将这种滋味延伸到人生的方方面面。譬如，相貌要甜美，声音要甜润，爱情要甜蜜，睡觉做梦都要香甜，日子更是要比蜜甜。总之，甜就是幸福，欢快的滋味。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⑥大地上长着甜，也长着苦。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⑦我的第一口苦水来自我村的一眼老井。有一天我在街上疯跑着玩儿，满头大汗，极渴，在一拐角处看到一个我叫婶子的妇人从井里提出一臂水，我趴到臂边便喝，妇人欲制止，已来不及了，我喝到嘴里一口水，随即噗的一下吐了出来，真苦啊，且涩，吐出来之后舌头还打皱。</a:t>
            </a:r>
            <a:endParaRPr sz="109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C98928"/>
                </a:solidFill>
              </a:defRPr>
            </a:pPr>
            <a:r>
              <a:rPr sz="1350" b="1" i="0">
                <a:solidFill>
                  <a:srgbClr val="C98928"/>
                </a:solidFill>
              </a:rPr>
              <a:t>材料四：大地的滋味 · 原文</a:t>
            </a:r>
            <a:endParaRPr sz="1350" b="1" i="0">
              <a:solidFill>
                <a:srgbClr val="C9892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48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819150"/>
            <a:ext cx="923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916"/>
          </a:bodyPr>
          <a:lstStyle/>
          <a:p>
            <a:pPr algn="l">
              <a:lnSpc>
                <a:spcPct val="104000"/>
              </a:lnSpc>
              <a:buNone/>
              <a:defRPr sz="2325" b="1" i="0">
                <a:solidFill>
                  <a:srgbClr val="1E2426"/>
                </a:solidFill>
              </a:defRPr>
            </a:pPr>
            <a:r>
              <a:rPr sz="2325" b="1" i="0">
                <a:solidFill>
                  <a:srgbClr val="1E2426"/>
                </a:solidFill>
              </a:rPr>
              <a:t>原文阅读 2/3</a:t>
            </a:r>
            <a:endParaRPr sz="2325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257300"/>
            <a:ext cx="971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9906"/>
          </a:bodyPr>
          <a:lstStyle/>
          <a:p>
            <a:pPr algn="l">
              <a:lnSpc>
                <a:spcPct val="115000"/>
              </a:lnSpc>
              <a:buNone/>
              <a:defRPr sz="1275" b="0" i="0">
                <a:solidFill>
                  <a:srgbClr val="697276"/>
                </a:solidFill>
              </a:defRPr>
            </a:pPr>
            <a:r>
              <a:rPr sz="1275" b="0" i="0">
                <a:solidFill>
                  <a:srgbClr val="697276"/>
                </a:solidFill>
              </a:rPr>
              <a:t>继续读原文，关注材料如何推进内容和主题。</a:t>
            </a:r>
            <a:endParaRPr sz="127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619250"/>
            <a:ext cx="3143250" cy="0"/>
          </a:xfrm>
          <a:prstGeom prst="line">
            <a:avLst/>
          </a:prstGeom>
          <a:noFill/>
          <a:ln w="28575">
            <a:solidFill>
              <a:srgbClr val="C98928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742950" y="175260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C9892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原文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552450" y="2057400"/>
            <a:ext cx="5429250" cy="4248150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圆角矩形 11"/>
          <p:cNvSpPr>
            <a:spLocks noGrp="1"/>
          </p:cNvSpPr>
          <p:nvPr/>
        </p:nvSpPr>
        <p:spPr>
          <a:xfrm>
            <a:off x="6210300" y="2057400"/>
            <a:ext cx="5429250" cy="4248150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/>
        </p:nvSpPr>
        <p:spPr>
          <a:xfrm>
            <a:off x="781050" y="2247900"/>
            <a:ext cx="4972050" cy="386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⑧树叶草叶大多都是苦的。最苦的草叫黄连，有句歇后语叫“哑巴吃黄连——有苦说不出。”这黄连是中药，而几乎所有中草药都苦，应了那句“良药苦口”之说。那年我生病煎了中药汤，捏住鼻子灌了进去、赶紧用糖来甜口，还是压不住，真是苦不堪言。不是所有的苦都不堪，譬如苦瓜，表面看品相不佳，一身疙瘩颇类癞蛤蟆，吃到嘴里，苦中却有一股清新的味道，耐人回味。又如咖啡，那种又苦又香的味道特别容易让人沉迷上瘾。《诗经》有云：“谁谓茶苦，其甘如荠。”这种甘苦相依，苦尽甘来的滋味蕴藏着人生的真谛。</a:t>
            </a:r>
            <a:endParaRPr sz="1095" b="0" i="0">
              <a:solidFill>
                <a:srgbClr val="1E2426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38900" y="2247900"/>
            <a:ext cx="4972050" cy="386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⑨有趣的是，甜虽为人喜，人们却对苦的体味更深刻更宽广，好像有一肚子苦水无处倾泻。痛苦，艰苦，吃苦、受苦，辛苦，疾苦……汇成一句悠长的嗟叹：苦——哇！其实，苦与甜是相对的，不吃苦中苦，哪知甜上甜？就像瓜蔓蒂根是苦的，而甜只是结出的果。苦，虽不堪言，却最耐人品咂回味，最为人间值得。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⑩对酸的最早体验是吃青杏。当小小青杏挂满枝头的时候，小孩子就忍不住下手了，咬到嘴里，吃吃哈哈那叫个酸，口水立马充溢口腔，一旁看的人都能流出哈喇子。更要命的是，酸倒了牙，整个腮帮子木木的，那牙不能沾任何食物，酸疼，得好久才能恢复。尽管如此，我们对酸味还是乐此不疲。“望梅止渴”的故事人人皆知。许多水果在未成熟时都是青色的，亦青涩，除了青杏，还有青枣、青葡萄、青苹果、李子等，熟了之后由青变红（黄、紫），由酸变甜。这是不是与人生很像？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⑪把辣归到五味中实在是一种误读，辣是一种作用于舌头的痛觉，而非味道。葱、姜、薜（bì）、辣椒是常见的辣味蔬菜，其中最辣的是辣椒。《通俗文》云：“辛甚日辣。”辣椒圆锥的形状像一把弯曲的利刃，由青转红，收后堆在场院，红彤彤的仿佛平地燃起大火。由辣的词性本意而引出与人有关的警喻，做事老辣、作风泼辣等。</a:t>
            </a:r>
            <a:endParaRPr sz="109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C98928"/>
                </a:solidFill>
              </a:defRPr>
            </a:pPr>
            <a:r>
              <a:rPr sz="1350" b="1" i="0">
                <a:solidFill>
                  <a:srgbClr val="C98928"/>
                </a:solidFill>
              </a:rPr>
              <a:t>材料四：大地的滋味 · 原文</a:t>
            </a:r>
            <a:endParaRPr sz="1350" b="1" i="0">
              <a:solidFill>
                <a:srgbClr val="C9892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49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819150"/>
            <a:ext cx="923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916"/>
          </a:bodyPr>
          <a:lstStyle/>
          <a:p>
            <a:pPr algn="l">
              <a:lnSpc>
                <a:spcPct val="104000"/>
              </a:lnSpc>
              <a:buNone/>
              <a:defRPr sz="2325" b="1" i="0">
                <a:solidFill>
                  <a:srgbClr val="1E2426"/>
                </a:solidFill>
              </a:defRPr>
            </a:pPr>
            <a:r>
              <a:rPr sz="2325" b="1" i="0">
                <a:solidFill>
                  <a:srgbClr val="1E2426"/>
                </a:solidFill>
              </a:rPr>
              <a:t>原文阅读 3/3</a:t>
            </a:r>
            <a:endParaRPr sz="2325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257300"/>
            <a:ext cx="971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9906"/>
          </a:bodyPr>
          <a:lstStyle/>
          <a:p>
            <a:pPr algn="l">
              <a:lnSpc>
                <a:spcPct val="115000"/>
              </a:lnSpc>
              <a:buNone/>
              <a:defRPr sz="1275" b="0" i="0">
                <a:solidFill>
                  <a:srgbClr val="697276"/>
                </a:solidFill>
              </a:defRPr>
            </a:pPr>
            <a:r>
              <a:rPr sz="1275" b="0" i="0">
                <a:solidFill>
                  <a:srgbClr val="697276"/>
                </a:solidFill>
              </a:rPr>
              <a:t>继续读原文，关注材料如何推进内容和主题。</a:t>
            </a:r>
            <a:endParaRPr sz="127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619250"/>
            <a:ext cx="3143250" cy="0"/>
          </a:xfrm>
          <a:prstGeom prst="line">
            <a:avLst/>
          </a:prstGeom>
          <a:noFill/>
          <a:ln w="28575">
            <a:solidFill>
              <a:srgbClr val="C98928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742950" y="175260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C9892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原文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552450" y="2057400"/>
            <a:ext cx="5429250" cy="4248150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圆角矩形 11"/>
          <p:cNvSpPr>
            <a:spLocks noGrp="1"/>
          </p:cNvSpPr>
          <p:nvPr/>
        </p:nvSpPr>
        <p:spPr>
          <a:xfrm>
            <a:off x="6210300" y="2057400"/>
            <a:ext cx="5429250" cy="4248150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/>
        </p:nvSpPr>
        <p:spPr>
          <a:xfrm>
            <a:off x="781050" y="2247900"/>
            <a:ext cx="4972050" cy="386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⑫少小家贫，常吃腌制的萝卜、芥菜疙瘩、韭菜花、大蒜等成菜，积习至今难改，馒头、粥加咸菜就是最好的饭食。北方人爱吃咸，口味重。咸味不仅是调味，更是生命的必需。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⑬盐同样来自大地，是大地慷慨的馈赠。旧时农村有大片大片的盐碱地、土壤贫瘠，寸草不生。土地表层有一层松软的盐土，农人将它用铲子刮了，放到一个专门砌成的盐池用清水反复浸泡导引，流出的盐水经太阳晒或用大锅煮、白色的晶体盐就产生了，这叫“淋小盐”。</a:t>
            </a:r>
            <a:endParaRPr sz="1095" b="0" i="0">
              <a:solidFill>
                <a:srgbClr val="1E2426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38900" y="2247900"/>
            <a:ext cx="4972050" cy="386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⑭五味是大地的滋味，也是人生的滋味。“五味杂陈”“百感交集”之谓好像略有消极额唐之意，其实在我看来是盈满，是丰厚，是自足、是上苍的赐予。人活一世，少了哪般滋味岂不是都觉乏味，都感寡淡？只是，甜了别沉溺，苦了别沉沦，酸了别倒牙，辣了别放任，咸了别过度，要以它味来填充，来调和，来平衡。苏东坡尝云“人间有味是清欢”，善于知味于口，深味于心，才会不负大地，不负人生。</a:t>
            </a:r>
            <a:endParaRPr sz="1095" b="0" i="0">
              <a:solidFill>
                <a:srgbClr val="1E2426"/>
              </a:solidFill>
            </a:endParaRPr>
          </a:p>
          <a:p>
            <a:endParaRPr sz="1095"/>
          </a:p>
          <a:p>
            <a:pPr algn="l">
              <a:lnSpc>
                <a:spcPct val="108000"/>
              </a:lnSpc>
              <a:buNone/>
              <a:defRPr sz="1095" b="0" i="0">
                <a:solidFill>
                  <a:srgbClr val="1E2426"/>
                </a:solidFill>
              </a:defRPr>
            </a:pPr>
            <a:r>
              <a:rPr sz="1095" b="0" i="0">
                <a:solidFill>
                  <a:srgbClr val="1E2426"/>
                </a:solidFill>
              </a:rPr>
              <a:t>（有删改）</a:t>
            </a:r>
            <a:endParaRPr sz="109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C98928"/>
                </a:solidFill>
              </a:defRPr>
            </a:pPr>
            <a:r>
              <a:rPr sz="1350" b="1" i="0">
                <a:solidFill>
                  <a:srgbClr val="C98928"/>
                </a:solidFill>
              </a:rPr>
              <a:t>材料四：大地的滋味 · 原题演练</a:t>
            </a:r>
            <a:endParaRPr sz="1350" b="1" i="0">
              <a:solidFill>
                <a:srgbClr val="C9892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50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1 题：先思考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先看题目，独立判断或写下关键词；下一步再核对答案。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C98928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C9892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第1题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690"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（1）下列对本文的理解和分析，不正确的一项是（    ）（3分）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A.作者善用通感手法，如“睡觉做梦都要香甜，日子更是要比蜜甜”，富有表现力和感染力。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B.文章多处引用典籍，语言典雅优美，同时科学分析五味的化学成分，使文章更具有科学性。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C.文章综合运用记叙、描写、抒情、议论等多种表达方式，使文章既有诗意，又富有哲理性。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D.作者结合自己的人生经历，依次描述了甜、苦、酸、辣、咸给人的感受，隐喻了人生滋味。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FFF0CF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5010150"/>
            <a:ext cx="1005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2754"/>
          </a:bodyPr>
          <a:lstStyle/>
          <a:p>
            <a:pPr algn="ctr">
              <a:lnSpc>
                <a:spcPct val="115000"/>
              </a:lnSpc>
              <a:buNone/>
              <a:defRPr sz="2250" b="1" i="0">
                <a:solidFill>
                  <a:srgbClr val="C98928"/>
                </a:solidFill>
              </a:defRPr>
            </a:pPr>
            <a:r>
              <a:rPr sz="2250" b="1" i="0">
                <a:solidFill>
                  <a:srgbClr val="C98928"/>
                </a:solidFill>
              </a:rPr>
              <a:t>下一步显示答案与解析</a:t>
            </a:r>
            <a:endParaRPr sz="2250" b="1" i="0">
              <a:solidFill>
                <a:srgbClr val="C98928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C98928"/>
                </a:solidFill>
              </a:defRPr>
            </a:pPr>
            <a:r>
              <a:rPr sz="1350" b="1" i="0">
                <a:solidFill>
                  <a:srgbClr val="C98928"/>
                </a:solidFill>
              </a:rPr>
              <a:t>材料四：大地的滋味 · 原题演练</a:t>
            </a:r>
            <a:endParaRPr sz="1350" b="1" i="0">
              <a:solidFill>
                <a:srgbClr val="C9892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51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1 题：答案解析 1/1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核对答案时，先找原文依据，再看评分表达。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C98928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C9892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第1题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690"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（1）下列对本文的理解和分析，不正确的一项是（    ）（3分）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A.作者善用通感手法，如“睡觉做梦都要香甜，日子更是要比蜜甜”，富有表现力和感染力。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B.文章多处引用典籍，语言典雅优美，同时科学分析五味的化学成分，使文章更具有科学性。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C.文章综合运用记叙、描写、抒情、议论等多种表达方式，使文章既有诗意，又富有哲理性。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D.作者结合自己的人生经历，依次描述了甜、苦、酸、辣、咸给人的感受，隐喻了人生滋味。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FFF0CF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4552950"/>
            <a:ext cx="100584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答案与解析</a:t>
            </a:r>
            <a:endParaRPr sz="1275" b="0" i="0">
              <a:solidFill>
                <a:srgbClr val="1E2426"/>
              </a:solidFill>
            </a:endParaRPr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答案：B</a:t>
            </a:r>
            <a:endParaRPr sz="1275" b="0" i="0">
              <a:solidFill>
                <a:srgbClr val="1E2426"/>
              </a:solidFill>
            </a:endParaRPr>
          </a:p>
          <a:p>
            <a:endParaRPr sz="1275"/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【解析】B.有误，文章没有科学分析五味的化学成分。</a:t>
            </a:r>
            <a:endParaRPr sz="127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C98928"/>
                </a:solidFill>
              </a:defRPr>
            </a:pPr>
            <a:r>
              <a:rPr sz="1350" b="1" i="0">
                <a:solidFill>
                  <a:srgbClr val="C98928"/>
                </a:solidFill>
              </a:rPr>
              <a:t>材料四：大地的滋味 · 原题演练</a:t>
            </a:r>
            <a:endParaRPr sz="1350" b="1" i="0">
              <a:solidFill>
                <a:srgbClr val="C9892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52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2 题：先思考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先看题目，独立判断或写下关键词；下一步再核对答案。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C98928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C9892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第2题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（2）文中第⑥段说“大地上长着甜，也长着苦”。作者写了大地上的哪几种苦？分别有什么特点？请分点概述。（4分）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FFF0CF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5010150"/>
            <a:ext cx="1005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2754"/>
          </a:bodyPr>
          <a:lstStyle/>
          <a:p>
            <a:pPr algn="ctr">
              <a:lnSpc>
                <a:spcPct val="115000"/>
              </a:lnSpc>
              <a:buNone/>
              <a:defRPr sz="2250" b="1" i="0">
                <a:solidFill>
                  <a:srgbClr val="C98928"/>
                </a:solidFill>
              </a:defRPr>
            </a:pPr>
            <a:r>
              <a:rPr sz="2250" b="1" i="0">
                <a:solidFill>
                  <a:srgbClr val="C98928"/>
                </a:solidFill>
              </a:rPr>
              <a:t>下一步显示答案与解析</a:t>
            </a:r>
            <a:endParaRPr sz="2250" b="1" i="0">
              <a:solidFill>
                <a:srgbClr val="C98928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C98928"/>
                </a:solidFill>
              </a:defRPr>
            </a:pPr>
            <a:r>
              <a:rPr sz="1350" b="1" i="0">
                <a:solidFill>
                  <a:srgbClr val="C98928"/>
                </a:solidFill>
              </a:rPr>
              <a:t>材料四：大地的滋味 · 原题演练</a:t>
            </a:r>
            <a:endParaRPr sz="1350" b="1" i="0">
              <a:solidFill>
                <a:srgbClr val="C9892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53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2 题：答案解析 1/1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核对答案时，先找原文依据，再看评分表达。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C98928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C9892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第2题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（2）文中第⑥段说“大地上长着甜，也长着苦”。作者写了大地上的哪几种苦？分别有什么特点？请分点概述。（4分）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FFF0CF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4552950"/>
            <a:ext cx="100584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5727"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答案与解析</a:t>
            </a:r>
            <a:endParaRPr sz="1275" b="0" i="0">
              <a:solidFill>
                <a:srgbClr val="1E2426"/>
              </a:solidFill>
            </a:endParaRPr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①老井的水：苦涩；</a:t>
            </a:r>
            <a:endParaRPr sz="1275" b="0" i="0">
              <a:solidFill>
                <a:srgbClr val="1E2426"/>
              </a:solidFill>
            </a:endParaRPr>
          </a:p>
          <a:p>
            <a:endParaRPr sz="1275"/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②几乎所有的中草药（或黄连）：苦不堪言 但又有益的苦；</a:t>
            </a:r>
            <a:endParaRPr sz="1275" b="0" i="0">
              <a:solidFill>
                <a:srgbClr val="1E2426"/>
              </a:solidFill>
            </a:endParaRPr>
          </a:p>
          <a:p>
            <a:endParaRPr sz="1275"/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③苦瓜：清新的苦；</a:t>
            </a:r>
            <a:endParaRPr sz="1275" b="0" i="0">
              <a:solidFill>
                <a:srgbClr val="1E2426"/>
              </a:solidFill>
            </a:endParaRPr>
          </a:p>
          <a:p>
            <a:endParaRPr sz="1275"/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④咖啡：又苦又香。</a:t>
            </a:r>
            <a:endParaRPr sz="127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C98928"/>
                </a:solidFill>
              </a:defRPr>
            </a:pPr>
            <a:r>
              <a:rPr sz="1350" b="1" i="0">
                <a:solidFill>
                  <a:srgbClr val="C98928"/>
                </a:solidFill>
              </a:rPr>
              <a:t>材料四：大地的滋味 · 原题演练</a:t>
            </a:r>
            <a:endParaRPr sz="1350" b="1" i="0">
              <a:solidFill>
                <a:srgbClr val="C9892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54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3 题：先思考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先看题目，独立判断或写下关键词；下一步再核对答案。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C98928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C9892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第3题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（3）按照括号中的提示，赏析下列划线句子。（4分）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A.用牙擗去一条一条篾皮，一口一口咔嚓咔嚓大嚼起来。（从词语角度）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B.辣椒圆锥的形状像一把弯曲的利刃，由青转红，收后堆在场院，红彤彤的仿佛平地燃起大火。（从修辞角度）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FFF0CF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5010150"/>
            <a:ext cx="1005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2754"/>
          </a:bodyPr>
          <a:lstStyle/>
          <a:p>
            <a:pPr algn="ctr">
              <a:lnSpc>
                <a:spcPct val="115000"/>
              </a:lnSpc>
              <a:buNone/>
              <a:defRPr sz="2250" b="1" i="0">
                <a:solidFill>
                  <a:srgbClr val="C98928"/>
                </a:solidFill>
              </a:defRPr>
            </a:pPr>
            <a:r>
              <a:rPr sz="2250" b="1" i="0">
                <a:solidFill>
                  <a:srgbClr val="C98928"/>
                </a:solidFill>
              </a:rPr>
              <a:t>下一步显示答案与解析</a:t>
            </a:r>
            <a:endParaRPr sz="2250" b="1" i="0">
              <a:solidFill>
                <a:srgbClr val="C98928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C98928"/>
                </a:solidFill>
              </a:defRPr>
            </a:pPr>
            <a:r>
              <a:rPr sz="1350" b="1" i="0">
                <a:solidFill>
                  <a:srgbClr val="C98928"/>
                </a:solidFill>
              </a:rPr>
              <a:t>材料四：大地的滋味 · 原题演练</a:t>
            </a:r>
            <a:endParaRPr sz="1350" b="1" i="0">
              <a:solidFill>
                <a:srgbClr val="C9892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55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3 题：答案解析 1/3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核对答案时，先找原文依据，再看评分表达。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C98928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C9892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第3题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（3）按照括号中的提示，赏析下列划线句子。（4分）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A.用牙擗去一条一条篾皮，一口一口咔嚓咔嚓大嚼起来。（从词语角度）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B.辣椒圆锥的形状像一把弯曲的利刃，由青转红，收后堆在场院，红彤彤的仿佛平地燃起大火。（从修辞角度）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FFF0CF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4552950"/>
            <a:ext cx="100584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768"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答案与解析</a:t>
            </a:r>
            <a:endParaRPr sz="1275" b="0" i="0">
              <a:solidFill>
                <a:srgbClr val="1E2426"/>
              </a:solidFill>
            </a:endParaRPr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A.用牙擗去一条一条篾皮，一口一口咔嚓咔嚓大嚼起来。（从词语角度）</a:t>
            </a:r>
            <a:endParaRPr sz="1275" b="0" i="0">
              <a:solidFill>
                <a:srgbClr val="1E2426"/>
              </a:solidFill>
            </a:endParaRPr>
          </a:p>
          <a:p>
            <a:endParaRPr sz="1275"/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示例一：动词运用：句子中“用牙擗”和“大嚼”两个动词，生动地展现了人物用牙齿刺去外皮和咀嚼食物的动态过程。写出了亲手劳作、享受自然馈赠的满足感。</a:t>
            </a:r>
            <a:endParaRPr sz="1275" b="0" i="0">
              <a:solidFill>
                <a:srgbClr val="1E2426"/>
              </a:solidFill>
            </a:endParaRPr>
          </a:p>
          <a:p>
            <a:endParaRPr sz="1275"/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示例二：叠词运用：“一条一条”和“一口一口”这两组叠词，写出了吃甘蔗动作的重复性，也传递出节奏感和韵律美，增强了描写的生动性和真实感。</a:t>
            </a:r>
            <a:endParaRPr sz="127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C98928"/>
                </a:solidFill>
              </a:defRPr>
            </a:pPr>
            <a:r>
              <a:rPr sz="1350" b="1" i="0">
                <a:solidFill>
                  <a:srgbClr val="C98928"/>
                </a:solidFill>
              </a:rPr>
              <a:t>材料四：大地的滋味 · 原题演练</a:t>
            </a:r>
            <a:endParaRPr sz="1350" b="1" i="0">
              <a:solidFill>
                <a:srgbClr val="C9892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56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3 题：答案解析 2/3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继续核对本题解析，区分原文依据和得分表达。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C98928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C9892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第3题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（3）按照括号中的提示，赏析下列划线句子。（4分）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A.用牙擗去一条一条篾皮，一口一口咔嚓咔嚓大嚼起来。（从词语角度）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B.辣椒圆锥的形状像一把弯曲的利刃，由青转红，收后堆在场院，红彤彤的仿佛平地燃起大火。（从修辞角度）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FFF0CF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4552950"/>
            <a:ext cx="100584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561"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答案与解析</a:t>
            </a:r>
            <a:endParaRPr sz="1275" b="0" i="0">
              <a:solidFill>
                <a:srgbClr val="1E2426"/>
              </a:solidFill>
            </a:endParaRPr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示例三：拟声词运用：“咔嚓咔嚓”是一个拟声词，它模拟了咀嚼食物时发出的声音，使得读者仿佛能够听到那种清脆、悦耳的声音，进一步增强了场景的真实感和代入感。</a:t>
            </a:r>
            <a:endParaRPr sz="1275" b="0" i="0">
              <a:solidFill>
                <a:srgbClr val="1E2426"/>
              </a:solidFill>
            </a:endParaRPr>
          </a:p>
          <a:p>
            <a:endParaRPr sz="1275"/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B.辣椒圆锥的形状像一把弯曲的利刃，由青转红，收后堆在场院，红彤彤的仿佛平地燃起大火。（从修辞角度）</a:t>
            </a:r>
            <a:endParaRPr sz="1275" b="0" i="0">
              <a:solidFill>
                <a:srgbClr val="1E2426"/>
              </a:solidFill>
            </a:endParaRPr>
          </a:p>
          <a:p>
            <a:endParaRPr sz="1275"/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示例一：运用比喻的修辞手法，把辣椒比作利刃，生动形象地展示出辣椒独特的锥形，表现了辣椒给人的火辣辣的感受（或：表达出人们对“辣”的独特情感）</a:t>
            </a:r>
            <a:endParaRPr sz="127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C98928"/>
                </a:solidFill>
              </a:defRPr>
            </a:pPr>
            <a:r>
              <a:rPr sz="1350" b="1" i="0">
                <a:solidFill>
                  <a:srgbClr val="C98928"/>
                </a:solidFill>
              </a:rPr>
              <a:t>材料四：大地的滋味 · 原题演练</a:t>
            </a:r>
            <a:endParaRPr sz="1350" b="1" i="0">
              <a:solidFill>
                <a:srgbClr val="C9892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57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3 题：答案解析 3/3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继续核对本题解析，区分原文依据和得分表达。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C98928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C9892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第3题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（3）按照括号中的提示，赏析下列划线句子。（4分）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A.用牙擗去一条一条篾皮，一口一口咔嚓咔嚓大嚼起来。（从词语角度）</a:t>
            </a:r>
            <a:endParaRPr sz="1500" b="0" i="0">
              <a:solidFill>
                <a:srgbClr val="1E2426"/>
              </a:solidFill>
            </a:endParaRPr>
          </a:p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B.辣椒圆锥的形状像一把弯曲的利刃，由青转红，收后堆在场院，红彤彤的仿佛平地燃起大火。（从修辞角度）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FFF0CF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4552950"/>
            <a:ext cx="100584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答案与解析</a:t>
            </a:r>
            <a:endParaRPr sz="1275" b="0" i="0">
              <a:solidFill>
                <a:srgbClr val="1E2426"/>
              </a:solidFill>
            </a:endParaRPr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示例二：运用比喻的修辞手法，把堆起来的红彤彤的辣椒比作平地燃起的大火，让读者感受到辣椒堆成山的火热、火辣（或：写出了辣椒给人带来的热烈和生机）</a:t>
            </a:r>
            <a:endParaRPr sz="127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C98928"/>
                </a:solidFill>
              </a:defRPr>
            </a:pPr>
            <a:r>
              <a:rPr sz="1350" b="1" i="0">
                <a:solidFill>
                  <a:srgbClr val="C98928"/>
                </a:solidFill>
              </a:rPr>
              <a:t>材料四：大地的滋味 · 原题演练</a:t>
            </a:r>
            <a:endParaRPr sz="1350" b="1" i="0">
              <a:solidFill>
                <a:srgbClr val="C9892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58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4 题：先思考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先看题目，独立判断或写下关键词；下一步再核对答案。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C98928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C9892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第4题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（4）有人说用“人间有味是清欢”做标题比原标题“大地的滋味”好，请你结合文章内容谈谈自己的看法。（6分）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FFF0CF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5010150"/>
            <a:ext cx="1005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2754"/>
          </a:bodyPr>
          <a:lstStyle/>
          <a:p>
            <a:pPr algn="ctr">
              <a:lnSpc>
                <a:spcPct val="115000"/>
              </a:lnSpc>
              <a:buNone/>
              <a:defRPr sz="2250" b="1" i="0">
                <a:solidFill>
                  <a:srgbClr val="C98928"/>
                </a:solidFill>
              </a:defRPr>
            </a:pPr>
            <a:r>
              <a:rPr sz="2250" b="1" i="0">
                <a:solidFill>
                  <a:srgbClr val="C98928"/>
                </a:solidFill>
              </a:rPr>
              <a:t>下一步显示答案与解析</a:t>
            </a:r>
            <a:endParaRPr sz="2250" b="1" i="0">
              <a:solidFill>
                <a:srgbClr val="C98928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C98928"/>
                </a:solidFill>
              </a:defRPr>
            </a:pPr>
            <a:r>
              <a:rPr sz="1350" b="1" i="0">
                <a:solidFill>
                  <a:srgbClr val="C98928"/>
                </a:solidFill>
              </a:rPr>
              <a:t>材料四：大地的滋味 · 原题演练</a:t>
            </a:r>
            <a:endParaRPr sz="1350" b="1" i="0">
              <a:solidFill>
                <a:srgbClr val="C9892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59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4 题：答案解析 1/4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核对答案时，先找原文依据，再看评分表达。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C98928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C9892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第4题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（4）有人说用“人间有味是清欢”做标题比原标题“大地的滋味”好，请你结合文章内容谈谈自己的看法。（6分）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FFF0CF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4552950"/>
            <a:ext cx="100584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答案与解析</a:t>
            </a:r>
            <a:endParaRPr sz="1275" b="0" i="0">
              <a:solidFill>
                <a:srgbClr val="1E2426"/>
              </a:solidFill>
            </a:endParaRPr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示例一：我认为，用“人间有味是清欢”做标题更好。因为①它引用了苏东坡的诗句，更有文学性。与结尾的“苏东坡尝云‘人间有味是清欢’”相呼应，使结构更加完整。②“人间有味是清欢”的意思是人间真正有味道的还是清淡的欢愉。③既表现了文章的内容是在写酸甜苦辣咸五种“人间的滋味”，④又凸显了主旨：人生有酸甜苦辣咸，但少了哪般滋味或者哪般滋味过了都不好，只有五味调和、平衡，</a:t>
            </a:r>
            <a:endParaRPr sz="127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C98928"/>
                </a:solidFill>
              </a:defRPr>
            </a:pPr>
            <a:r>
              <a:rPr sz="1350" b="1" i="0">
                <a:solidFill>
                  <a:srgbClr val="C98928"/>
                </a:solidFill>
              </a:rPr>
              <a:t>材料四：大地的滋味 · 原题演练</a:t>
            </a:r>
            <a:endParaRPr sz="1350" b="1" i="0">
              <a:solidFill>
                <a:srgbClr val="C9892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60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4 题：答案解析 2/4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继续核对本题解析，区分原文依据和得分表达。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C98928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C9892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第4题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（4）有人说用“人间有味是清欢”做标题比原标题“大地的滋味”好，请你结合文章内容谈谈自己的看法。（6分）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FFF0CF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4552950"/>
            <a:ext cx="100584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答案与解析</a:t>
            </a:r>
            <a:endParaRPr sz="1275" b="0" i="0">
              <a:solidFill>
                <a:srgbClr val="1E2426"/>
              </a:solidFill>
            </a:endParaRPr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不过度快乐、悲伤、任性，达到清淡，才会不负人生。⑤而“大地的滋味”主要是概括了文章的内容，显得比较普通。所以“人间有味是清欢”更好。</a:t>
            </a:r>
            <a:endParaRPr sz="127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C98928"/>
                </a:solidFill>
              </a:defRPr>
            </a:pPr>
            <a:r>
              <a:rPr sz="1350" b="1" i="0">
                <a:solidFill>
                  <a:srgbClr val="C98928"/>
                </a:solidFill>
              </a:rPr>
              <a:t>材料四：大地的滋味 · 原题演练</a:t>
            </a:r>
            <a:endParaRPr sz="1350" b="1" i="0">
              <a:solidFill>
                <a:srgbClr val="C9892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61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4 题：答案解析 3/4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继续核对本题解析，区分原文依据和得分表达。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C98928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C9892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第4题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（4）有人说用“人间有味是清欢”做标题比原标题“大地的滋味”好，请你结合文章内容谈谈自己的看法。（6分）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FFF0CF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4552950"/>
            <a:ext cx="100584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答案与解析</a:t>
            </a:r>
            <a:endParaRPr sz="1275" b="0" i="0">
              <a:solidFill>
                <a:srgbClr val="1E2426"/>
              </a:solidFill>
            </a:endParaRPr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示例二：我认为，用“大地的滋味”做标题好。因为①它运用了比拟（拟人） 手法，赋予大地以生命和情感，更加生动、亲切，设置了悬念，吸引读者阅读兴趣。②这个标题高度概括了全文内容，文章分别叙述了大地赋予的五种滋味。③在结尾段总结了“大地的滋味是人生的滋味”，与结尾呼应，使行文结构更加严整。④同时暗示了主旨：大地赋予人类的酸甜苦辣咸五种滋味，其实是人生的滋味，</a:t>
            </a:r>
            <a:endParaRPr sz="127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C98928"/>
                </a:solidFill>
              </a:defRPr>
            </a:pPr>
            <a:r>
              <a:rPr sz="1350" b="1" i="0">
                <a:solidFill>
                  <a:srgbClr val="C98928"/>
                </a:solidFill>
              </a:rPr>
              <a:t>材料四：大地的滋味 · 原题演练</a:t>
            </a:r>
            <a:endParaRPr sz="1350" b="1" i="0">
              <a:solidFill>
                <a:srgbClr val="C9892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62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0477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636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E2426"/>
                </a:solidFill>
              </a:defRPr>
            </a:pPr>
            <a:r>
              <a:rPr sz="2550" b="1" i="0">
                <a:solidFill>
                  <a:srgbClr val="1E2426"/>
                </a:solidFill>
              </a:rPr>
              <a:t>第 4 题：答案解析 4/4</a:t>
            </a:r>
            <a:endParaRPr sz="25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175"/>
          </a:bodyPr>
          <a:lstStyle/>
          <a:p>
            <a:pPr algn="l">
              <a:lnSpc>
                <a:spcPct val="115000"/>
              </a:lnSpc>
              <a:buNone/>
              <a:defRPr sz="1425" b="0" i="0">
                <a:solidFill>
                  <a:srgbClr val="697276"/>
                </a:solidFill>
              </a:defRPr>
            </a:pPr>
            <a:r>
              <a:rPr sz="1425" b="0" i="0">
                <a:solidFill>
                  <a:srgbClr val="697276"/>
                </a:solidFill>
              </a:rPr>
              <a:t>继续核对本题解析，区分原文依据和得分表达。</a:t>
            </a:r>
            <a:endParaRPr sz="1425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1981200"/>
            <a:ext cx="3143250" cy="0"/>
          </a:xfrm>
          <a:prstGeom prst="line">
            <a:avLst/>
          </a:prstGeom>
          <a:noFill/>
          <a:ln w="28575">
            <a:solidFill>
              <a:srgbClr val="C98928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2190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C9892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第4题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" y="2609850"/>
            <a:ext cx="107823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19400"/>
            <a:ext cx="1005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（4）有人说用“人间有味是清欢”做标题比原标题“大地的滋味”好，请你结合文章内容谈谈自己的看法。（6分）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" y="4343400"/>
            <a:ext cx="10782300" cy="1847850"/>
          </a:xfrm>
          <a:prstGeom prst="roundRect">
            <a:avLst>
              <a:gd name="adj" fmla="val 7216"/>
            </a:avLst>
          </a:prstGeom>
          <a:solidFill>
            <a:srgbClr val="FFF0CF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4552950"/>
            <a:ext cx="100584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答案与解析</a:t>
            </a:r>
            <a:endParaRPr sz="1275" b="0" i="0">
              <a:solidFill>
                <a:srgbClr val="1E2426"/>
              </a:solidFill>
            </a:endParaRPr>
          </a:p>
          <a:p>
            <a:pPr algn="l">
              <a:lnSpc>
                <a:spcPct val="114000"/>
              </a:lnSpc>
              <a:buNone/>
              <a:defRPr sz="1275" b="0" i="0">
                <a:solidFill>
                  <a:srgbClr val="1E2426"/>
                </a:solidFill>
              </a:defRPr>
            </a:pPr>
            <a:r>
              <a:rPr sz="1275" b="0" i="0">
                <a:solidFill>
                  <a:srgbClr val="1E2426"/>
                </a:solidFill>
              </a:rPr>
              <a:t>是上苍的赐予。五味俱全，才能不负人生。⑤而“人间有味是清欢”虽然很有文采，但对文章内容的统领性不足。所以“大地的滋味”更好。</a:t>
            </a:r>
            <a:endParaRPr sz="1275" b="0" i="0">
              <a:solidFill>
                <a:srgbClr val="1E2426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C98928"/>
                </a:solidFill>
              </a:defRPr>
            </a:pPr>
            <a:r>
              <a:rPr sz="1350" b="1" i="0">
                <a:solidFill>
                  <a:srgbClr val="C98928"/>
                </a:solidFill>
              </a:rPr>
              <a:t>材料四：大地的滋味 · 标题题</a:t>
            </a:r>
            <a:endParaRPr sz="1350" b="1" i="0">
              <a:solidFill>
                <a:srgbClr val="C9892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63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990600"/>
            <a:ext cx="9239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6909"/>
          </a:bodyPr>
          <a:lstStyle/>
          <a:p>
            <a:pPr algn="l">
              <a:lnSpc>
                <a:spcPct val="105000"/>
              </a:lnSpc>
              <a:buNone/>
              <a:defRPr sz="2850" b="1" i="0">
                <a:solidFill>
                  <a:srgbClr val="1E2426"/>
                </a:solidFill>
              </a:defRPr>
            </a:pPr>
            <a:r>
              <a:rPr sz="2850" b="1" i="0">
                <a:solidFill>
                  <a:srgbClr val="1E2426"/>
                </a:solidFill>
              </a:rPr>
              <a:t>标题题先判断，不急着看解析</a:t>
            </a:r>
            <a:endParaRPr sz="28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406"/>
          </a:bodyPr>
          <a:lstStyle/>
          <a:p>
            <a:pPr algn="l">
              <a:lnSpc>
                <a:spcPct val="115000"/>
              </a:lnSpc>
              <a:buNone/>
              <a:defRPr sz="1500" b="0" i="0">
                <a:solidFill>
                  <a:srgbClr val="697276"/>
                </a:solidFill>
              </a:defRPr>
            </a:pPr>
            <a:r>
              <a:rPr sz="1500" b="0" i="0">
                <a:solidFill>
                  <a:srgbClr val="697276"/>
                </a:solidFill>
              </a:rPr>
              <a:t>请学生先选，再说出一个文本依据。</a:t>
            </a:r>
            <a:endParaRPr sz="1500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2038350"/>
            <a:ext cx="3143250" cy="0"/>
          </a:xfrm>
          <a:prstGeom prst="line">
            <a:avLst/>
          </a:prstGeom>
          <a:noFill/>
          <a:ln w="28575">
            <a:solidFill>
              <a:srgbClr val="C98928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1257300" y="2895600"/>
            <a:ext cx="4476750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E6B6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圆角矩形 10"/>
          <p:cNvSpPr>
            <a:spLocks noGrp="1"/>
          </p:cNvSpPr>
          <p:nvPr/>
        </p:nvSpPr>
        <p:spPr>
          <a:xfrm>
            <a:off x="1485900" y="3190875"/>
            <a:ext cx="609600" cy="323850"/>
          </a:xfrm>
          <a:prstGeom prst="roundRect">
            <a:avLst>
              <a:gd name="adj" fmla="val 50000"/>
            </a:avLst>
          </a:prstGeom>
          <a:solidFill>
            <a:srgbClr val="0E6B67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原题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305050" y="310515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2324"/>
          </a:bodyPr>
          <a:lstStyle/>
          <a:p>
            <a:pPr algn="ctr">
              <a:lnSpc>
                <a:spcPct val="115000"/>
              </a:lnSpc>
              <a:buNone/>
              <a:defRPr sz="2025" b="1" i="0">
                <a:solidFill>
                  <a:srgbClr val="1E2426"/>
                </a:solidFill>
              </a:defRPr>
            </a:pPr>
            <a:r>
              <a:rPr sz="2025" b="1" i="0">
                <a:solidFill>
                  <a:srgbClr val="1E2426"/>
                </a:solidFill>
              </a:rPr>
              <a:t>大地的滋味</a:t>
            </a:r>
            <a:endParaRPr sz="2025" b="1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305550" y="2895600"/>
            <a:ext cx="4476750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圆角矩形 13"/>
          <p:cNvSpPr>
            <a:spLocks noGrp="1"/>
          </p:cNvSpPr>
          <p:nvPr/>
        </p:nvSpPr>
        <p:spPr>
          <a:xfrm>
            <a:off x="6534150" y="3190875"/>
            <a:ext cx="609600" cy="323850"/>
          </a:xfrm>
          <a:prstGeom prst="roundRect">
            <a:avLst>
              <a:gd name="adj" fmla="val 50000"/>
            </a:avLst>
          </a:prstGeom>
          <a:solidFill>
            <a:srgbClr val="C9892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改题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353300" y="310515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9710"/>
          </a:bodyPr>
          <a:lstStyle/>
          <a:p>
            <a:pPr algn="ctr">
              <a:lnSpc>
                <a:spcPct val="115000"/>
              </a:lnSpc>
              <a:buNone/>
              <a:defRPr sz="1875" b="1" i="0">
                <a:solidFill>
                  <a:srgbClr val="1E2426"/>
                </a:solidFill>
              </a:defRPr>
            </a:pPr>
            <a:r>
              <a:rPr sz="1875" b="1" i="0">
                <a:solidFill>
                  <a:srgbClr val="1E2426"/>
                </a:solidFill>
              </a:rPr>
              <a:t>人间有味是清欢</a:t>
            </a:r>
            <a:endParaRPr sz="1875" b="1" i="0">
              <a:solidFill>
                <a:srgbClr val="1E2426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1962150" y="4743450"/>
            <a:ext cx="8267700" cy="800100"/>
          </a:xfrm>
          <a:prstGeom prst="roundRect">
            <a:avLst>
              <a:gd name="adj" fmla="val 19048"/>
            </a:avLst>
          </a:prstGeom>
          <a:solidFill>
            <a:srgbClr val="E7ECF7"/>
          </a:solidFill>
          <a:ln w="9525">
            <a:solidFill>
              <a:srgbClr val="C9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矩形 16"/>
          <p:cNvSpPr>
            <a:spLocks noGrp="1"/>
          </p:cNvSpPr>
          <p:nvPr/>
        </p:nvSpPr>
        <p:spPr>
          <a:xfrm>
            <a:off x="2362200" y="4972050"/>
            <a:ext cx="752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725"/>
          </a:bodyPr>
          <a:lstStyle/>
          <a:p>
            <a:pPr algn="ctr">
              <a:lnSpc>
                <a:spcPct val="115000"/>
              </a:lnSpc>
              <a:buNone/>
              <a:defRPr sz="1875" b="1" i="0">
                <a:solidFill>
                  <a:srgbClr val="C98928"/>
                </a:solidFill>
              </a:defRPr>
            </a:pPr>
            <a:r>
              <a:rPr sz="1875" b="1" i="0">
                <a:solidFill>
                  <a:srgbClr val="C98928"/>
                </a:solidFill>
              </a:rPr>
              <a:t>先判断：哪个标题更能统领“五味”和“人生滋味”？</a:t>
            </a:r>
            <a:endParaRPr sz="1875" b="1" i="0">
              <a:solidFill>
                <a:srgbClr val="C98928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C9892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C98928"/>
                </a:solidFill>
              </a:defRPr>
            </a:pPr>
            <a:r>
              <a:rPr sz="1350" b="1" i="0">
                <a:solidFill>
                  <a:srgbClr val="C98928"/>
                </a:solidFill>
              </a:rPr>
              <a:t>材料四：大地的滋味 · 标题题解析</a:t>
            </a:r>
            <a:endParaRPr sz="1350" b="1" i="0">
              <a:solidFill>
                <a:srgbClr val="C9892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64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990600"/>
            <a:ext cx="9239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6909"/>
          </a:bodyPr>
          <a:lstStyle/>
          <a:p>
            <a:pPr algn="l">
              <a:lnSpc>
                <a:spcPct val="105000"/>
              </a:lnSpc>
              <a:buNone/>
              <a:defRPr sz="2850" b="1" i="0">
                <a:solidFill>
                  <a:srgbClr val="1E2426"/>
                </a:solidFill>
              </a:defRPr>
            </a:pPr>
            <a:r>
              <a:rPr sz="2850" b="1" i="0">
                <a:solidFill>
                  <a:srgbClr val="1E2426"/>
                </a:solidFill>
              </a:rPr>
              <a:t>解析：题目好不好，要看统领力</a:t>
            </a:r>
            <a:endParaRPr sz="28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406"/>
          </a:bodyPr>
          <a:lstStyle/>
          <a:p>
            <a:pPr algn="l">
              <a:lnSpc>
                <a:spcPct val="115000"/>
              </a:lnSpc>
              <a:buNone/>
              <a:defRPr sz="1500" b="0" i="0">
                <a:solidFill>
                  <a:srgbClr val="697276"/>
                </a:solidFill>
              </a:defRPr>
            </a:pPr>
            <a:r>
              <a:rPr sz="1500" b="0" i="0">
                <a:solidFill>
                  <a:srgbClr val="697276"/>
                </a:solidFill>
              </a:rPr>
              <a:t>《人间有味是清欢》有文采，但《大地的滋味》更直接统领全文。</a:t>
            </a:r>
            <a:endParaRPr sz="1500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2038350"/>
            <a:ext cx="3143250" cy="0"/>
          </a:xfrm>
          <a:prstGeom prst="line">
            <a:avLst/>
          </a:prstGeom>
          <a:noFill/>
          <a:ln w="28575">
            <a:solidFill>
              <a:srgbClr val="C98928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76300" y="2609850"/>
            <a:ext cx="4572000" cy="990600"/>
          </a:xfrm>
          <a:prstGeom prst="roundRect">
            <a:avLst>
              <a:gd name="adj" fmla="val 15385"/>
            </a:avLst>
          </a:prstGeom>
          <a:solidFill>
            <a:srgbClr val="DFF1EA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1104900" y="27813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1594"/>
          </a:bodyPr>
          <a:lstStyle/>
          <a:p>
            <a:pPr algn="l">
              <a:lnSpc>
                <a:spcPct val="115000"/>
              </a:lnSpc>
              <a:buNone/>
              <a:defRPr sz="1800" b="1" i="0">
                <a:solidFill>
                  <a:srgbClr val="0E6B67"/>
                </a:solidFill>
              </a:defRPr>
            </a:pPr>
            <a:r>
              <a:rPr sz="1800" b="1" i="0">
                <a:solidFill>
                  <a:srgbClr val="0E6B67"/>
                </a:solidFill>
              </a:rPr>
              <a:t>原题</a:t>
            </a:r>
            <a:endParaRPr sz="1800" b="1" i="0">
              <a:solidFill>
                <a:srgbClr val="0E6B67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190750" y="280035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859"/>
          </a:bodyPr>
          <a:lstStyle/>
          <a:p>
            <a:pPr algn="l">
              <a:lnSpc>
                <a:spcPct val="118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高度概括全文内容：甜、苦、酸、辣、咸都来自大地。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096000" y="2609850"/>
            <a:ext cx="4572000" cy="990600"/>
          </a:xfrm>
          <a:prstGeom prst="roundRect">
            <a:avLst>
              <a:gd name="adj" fmla="val 15385"/>
            </a:avLst>
          </a:prstGeom>
          <a:solidFill>
            <a:srgbClr val="E7ECF7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6324600" y="27813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1594"/>
          </a:bodyPr>
          <a:lstStyle/>
          <a:p>
            <a:pPr algn="l">
              <a:lnSpc>
                <a:spcPct val="115000"/>
              </a:lnSpc>
              <a:buNone/>
              <a:defRPr sz="1800" b="1" i="0">
                <a:solidFill>
                  <a:srgbClr val="39527A"/>
                </a:solidFill>
              </a:defRPr>
            </a:pPr>
            <a:r>
              <a:rPr sz="1800" b="1" i="0">
                <a:solidFill>
                  <a:srgbClr val="39527A"/>
                </a:solidFill>
              </a:rPr>
              <a:t>主旨</a:t>
            </a:r>
            <a:endParaRPr sz="1800" b="1" i="0">
              <a:solidFill>
                <a:srgbClr val="39527A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410450" y="280035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859"/>
          </a:bodyPr>
          <a:lstStyle/>
          <a:p>
            <a:pPr algn="l">
              <a:lnSpc>
                <a:spcPct val="118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结尾升华为“大地的滋味，也是人生的滋味”。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76300" y="4000500"/>
            <a:ext cx="4572000" cy="990600"/>
          </a:xfrm>
          <a:prstGeom prst="roundRect">
            <a:avLst>
              <a:gd name="adj" fmla="val 15385"/>
            </a:avLst>
          </a:prstGeom>
          <a:solidFill>
            <a:srgbClr val="FFF0CF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矩形 16"/>
          <p:cNvSpPr>
            <a:spLocks noGrp="1"/>
          </p:cNvSpPr>
          <p:nvPr/>
        </p:nvSpPr>
        <p:spPr>
          <a:xfrm>
            <a:off x="1104900" y="417195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1594"/>
          </a:bodyPr>
          <a:lstStyle/>
          <a:p>
            <a:pPr algn="l">
              <a:lnSpc>
                <a:spcPct val="115000"/>
              </a:lnSpc>
              <a:buNone/>
              <a:defRPr sz="1800" b="1" i="0">
                <a:solidFill>
                  <a:srgbClr val="C98928"/>
                </a:solidFill>
              </a:defRPr>
            </a:pPr>
            <a:r>
              <a:rPr sz="1800" b="1" i="0">
                <a:solidFill>
                  <a:srgbClr val="C98928"/>
                </a:solidFill>
              </a:rPr>
              <a:t>改题</a:t>
            </a:r>
            <a:endParaRPr sz="1800" b="1" i="0">
              <a:solidFill>
                <a:srgbClr val="C98928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190750" y="419100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859"/>
          </a:bodyPr>
          <a:lstStyle/>
          <a:p>
            <a:pPr algn="l">
              <a:lnSpc>
                <a:spcPct val="118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引用苏轼诗句，有文学性，也可与结尾形成呼应。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096000" y="4000500"/>
            <a:ext cx="4572000" cy="990600"/>
          </a:xfrm>
          <a:prstGeom prst="roundRect">
            <a:avLst>
              <a:gd name="adj" fmla="val 15385"/>
            </a:avLst>
          </a:prstGeom>
          <a:solidFill>
            <a:srgbClr val="F0E7F3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0" name="矩形 19"/>
          <p:cNvSpPr>
            <a:spLocks noGrp="1"/>
          </p:cNvSpPr>
          <p:nvPr/>
        </p:nvSpPr>
        <p:spPr>
          <a:xfrm>
            <a:off x="6324600" y="417195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1594"/>
          </a:bodyPr>
          <a:lstStyle/>
          <a:p>
            <a:pPr algn="l">
              <a:lnSpc>
                <a:spcPct val="115000"/>
              </a:lnSpc>
              <a:buNone/>
              <a:defRPr sz="1800" b="1" i="0">
                <a:solidFill>
                  <a:srgbClr val="C6504A"/>
                </a:solidFill>
              </a:defRPr>
            </a:pPr>
            <a:r>
              <a:rPr sz="1800" b="1" i="0">
                <a:solidFill>
                  <a:srgbClr val="C6504A"/>
                </a:solidFill>
              </a:rPr>
              <a:t>比较</a:t>
            </a:r>
            <a:endParaRPr sz="1800" b="1" i="0">
              <a:solidFill>
                <a:srgbClr val="C6504A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410450" y="419100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859"/>
          </a:bodyPr>
          <a:lstStyle/>
          <a:p>
            <a:pPr algn="l">
              <a:lnSpc>
                <a:spcPct val="118000"/>
              </a:lnSpc>
              <a:buNone/>
              <a:defRPr sz="1500" b="0" i="0">
                <a:solidFill>
                  <a:srgbClr val="1E2426"/>
                </a:solidFill>
              </a:defRPr>
            </a:pPr>
            <a:r>
              <a:rPr sz="1500" b="0" i="0">
                <a:solidFill>
                  <a:srgbClr val="1E2426"/>
                </a:solidFill>
              </a:rPr>
              <a:t>但改题对五味内容的统领不如原题直接、完整。</a:t>
            </a:r>
            <a:endParaRPr sz="1500" b="0" i="0">
              <a:solidFill>
                <a:srgbClr val="1E2426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352550" y="5657850"/>
            <a:ext cx="9486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6221"/>
          </a:bodyPr>
          <a:lstStyle/>
          <a:p>
            <a:pPr algn="ctr">
              <a:lnSpc>
                <a:spcPct val="115000"/>
              </a:lnSpc>
              <a:buNone/>
              <a:defRPr sz="2025" b="1" i="0">
                <a:solidFill>
                  <a:srgbClr val="C98928"/>
                </a:solidFill>
              </a:defRPr>
            </a:pPr>
            <a:r>
              <a:rPr sz="2025" b="1" i="0">
                <a:solidFill>
                  <a:srgbClr val="C98928"/>
                </a:solidFill>
              </a:rPr>
              <a:t>提醒学生：标题有文采，还要能管住全文。</a:t>
            </a:r>
            <a:endParaRPr sz="2025" b="1" i="0">
              <a:solidFill>
                <a:srgbClr val="C98928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9527A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514350"/>
            <a:ext cx="57150" cy="438150"/>
          </a:xfrm>
          <a:prstGeom prst="rect">
            <a:avLst/>
          </a:prstGeom>
          <a:solidFill>
            <a:srgbClr val="39527A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074"/>
          </a:bodyPr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39527A"/>
                </a:solidFill>
              </a:defRPr>
            </a:pPr>
            <a:r>
              <a:rPr sz="1350" b="1" i="0">
                <a:solidFill>
                  <a:srgbClr val="39527A"/>
                </a:solidFill>
              </a:rPr>
              <a:t>本讲收束</a:t>
            </a:r>
            <a:endParaRPr sz="1350" b="1" i="0">
              <a:solidFill>
                <a:srgbClr val="39527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400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00" b="0" i="0">
                <a:solidFill>
                  <a:srgbClr val="697276"/>
                </a:solidFill>
              </a:defRPr>
            </a:pPr>
            <a:r>
              <a:rPr sz="1200" b="0" i="0">
                <a:solidFill>
                  <a:srgbClr val="697276"/>
                </a:solidFill>
              </a:rPr>
              <a:t>65</a:t>
            </a:r>
            <a:endParaRPr sz="1200" b="0" i="0">
              <a:solidFill>
                <a:srgbClr val="69727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990600"/>
            <a:ext cx="9239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6909"/>
          </a:bodyPr>
          <a:lstStyle/>
          <a:p>
            <a:pPr algn="l">
              <a:lnSpc>
                <a:spcPct val="105000"/>
              </a:lnSpc>
              <a:buNone/>
              <a:defRPr sz="2850" b="1" i="0">
                <a:solidFill>
                  <a:srgbClr val="1E2426"/>
                </a:solidFill>
              </a:defRPr>
            </a:pPr>
            <a:r>
              <a:rPr sz="2850" b="1" i="0">
                <a:solidFill>
                  <a:srgbClr val="1E2426"/>
                </a:solidFill>
              </a:rPr>
              <a:t>回到原题：标题理由必须贴着文章写</a:t>
            </a:r>
            <a:endParaRPr sz="2850" b="1" i="0">
              <a:solidFill>
                <a:srgbClr val="1E2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58115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406"/>
          </a:bodyPr>
          <a:lstStyle/>
          <a:p>
            <a:pPr algn="l">
              <a:lnSpc>
                <a:spcPct val="115000"/>
              </a:lnSpc>
              <a:buNone/>
              <a:defRPr sz="1500" b="0" i="0">
                <a:solidFill>
                  <a:srgbClr val="697276"/>
                </a:solidFill>
              </a:defRPr>
            </a:pPr>
            <a:r>
              <a:rPr sz="1500" b="0" i="0">
                <a:solidFill>
                  <a:srgbClr val="697276"/>
                </a:solidFill>
              </a:rPr>
              <a:t>读原文、找证据、看题目、拆解析，四步合起来才是完整训练。</a:t>
            </a:r>
            <a:endParaRPr sz="1500" b="0" i="0">
              <a:solidFill>
                <a:srgbClr val="697276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2038350"/>
            <a:ext cx="3143250" cy="0"/>
          </a:xfrm>
          <a:prstGeom prst="line">
            <a:avLst/>
          </a:prstGeom>
          <a:noFill/>
          <a:ln w="28575">
            <a:solidFill>
              <a:srgbClr val="39527A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952500" y="2686050"/>
            <a:ext cx="10287000" cy="219075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39527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1390650" y="3028950"/>
            <a:ext cx="89535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rmAutofit fontScale="88295"/>
          </a:bodyPr>
          <a:lstStyle/>
          <a:p>
            <a:pPr marL="0" indent="0">
              <a:lnSpc>
                <a:spcPct val="118000"/>
              </a:lnSpc>
              <a:spcAft>
                <a:spcPts val="5"/>
              </a:spcAft>
              <a:buNone/>
              <a:defRPr sz="1950">
                <a:solidFill>
                  <a:srgbClr val="1E2426"/>
                </a:solidFill>
              </a:defRPr>
            </a:pPr>
            <a:r>
              <a:rPr sz="1950">
                <a:solidFill>
                  <a:srgbClr val="1E2426"/>
                </a:solidFill>
              </a:rPr>
              <a:t>内容：标题是否概括文章主要对象和主要事件</a:t>
            </a:r>
            <a:endParaRPr sz="1950">
              <a:solidFill>
                <a:srgbClr val="1E2426"/>
              </a:solidFill>
            </a:endParaRPr>
          </a:p>
          <a:p>
            <a:pPr marL="0" indent="0">
              <a:lnSpc>
                <a:spcPct val="118000"/>
              </a:lnSpc>
              <a:spcAft>
                <a:spcPts val="5"/>
              </a:spcAft>
              <a:buNone/>
              <a:defRPr sz="1950">
                <a:solidFill>
                  <a:srgbClr val="1E2426"/>
                </a:solidFill>
              </a:defRPr>
            </a:pPr>
            <a:r>
              <a:rPr sz="1950">
                <a:solidFill>
                  <a:srgbClr val="1E2426"/>
                </a:solidFill>
              </a:rPr>
              <a:t>主题：标题是否能点出情感、态度、哲理或价值</a:t>
            </a:r>
            <a:endParaRPr sz="1950">
              <a:solidFill>
                <a:srgbClr val="1E2426"/>
              </a:solidFill>
            </a:endParaRPr>
          </a:p>
          <a:p>
            <a:pPr marL="0" indent="0">
              <a:lnSpc>
                <a:spcPct val="118000"/>
              </a:lnSpc>
              <a:spcAft>
                <a:spcPts val="5"/>
              </a:spcAft>
              <a:buNone/>
              <a:defRPr sz="1950">
                <a:solidFill>
                  <a:srgbClr val="1E2426"/>
                </a:solidFill>
              </a:defRPr>
            </a:pPr>
            <a:r>
              <a:rPr sz="1950">
                <a:solidFill>
                  <a:srgbClr val="1E2426"/>
                </a:solidFill>
              </a:rPr>
              <a:t>结构：标题是否是线索，是否与开头结尾呼应</a:t>
            </a:r>
            <a:endParaRPr sz="1950">
              <a:solidFill>
                <a:srgbClr val="1E2426"/>
              </a:solidFill>
            </a:endParaRPr>
          </a:p>
          <a:p>
            <a:pPr marL="0" indent="0">
              <a:lnSpc>
                <a:spcPct val="118000"/>
              </a:lnSpc>
              <a:spcAft>
                <a:spcPts val="5"/>
              </a:spcAft>
              <a:buNone/>
              <a:defRPr sz="1950">
                <a:solidFill>
                  <a:srgbClr val="1E2426"/>
                </a:solidFill>
              </a:defRPr>
            </a:pPr>
            <a:r>
              <a:rPr sz="1950">
                <a:solidFill>
                  <a:srgbClr val="1E2426"/>
                </a:solidFill>
              </a:rPr>
              <a:t>表达：标题是否有修辞、悬念、诗意或对比效果</a:t>
            </a:r>
            <a:endParaRPr sz="1950">
              <a:solidFill>
                <a:srgbClr val="1E2426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466850" y="5581650"/>
            <a:ext cx="914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8675"/>
          </a:bodyPr>
          <a:lstStyle/>
          <a:p>
            <a:pPr algn="ctr">
              <a:lnSpc>
                <a:spcPct val="115000"/>
              </a:lnSpc>
              <a:buNone/>
              <a:defRPr sz="2100" b="1" i="0">
                <a:solidFill>
                  <a:srgbClr val="C6504A"/>
                </a:solidFill>
              </a:defRPr>
            </a:pPr>
            <a:r>
              <a:rPr sz="2100" b="1" i="0">
                <a:solidFill>
                  <a:srgbClr val="C6504A"/>
                </a:solidFill>
              </a:rPr>
              <a:t>课后任务：任选一篇材料，把标题题答案改写成一段 5-6 分完整答案。</a:t>
            </a:r>
            <a:endParaRPr sz="2100" b="1" i="0">
              <a:solidFill>
                <a:srgbClr val="C6504A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18283</Words>
  <Application>WPS 演示</Application>
  <PresentationFormat>Converted Presentation</PresentationFormat>
  <Paragraphs>1182</Paragraphs>
  <Slides>64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64</vt:i4>
      </vt:variant>
    </vt:vector>
  </HeadingPairs>
  <TitlesOfParts>
    <vt:vector size="76" baseType="lpstr">
      <vt:lpstr>Arial</vt:lpstr>
      <vt:lpstr>宋体</vt:lpstr>
      <vt:lpstr>Wingdings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宋体-简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龙</cp:lastModifiedBy>
  <cp:revision>1</cp:revision>
  <dcterms:created xsi:type="dcterms:W3CDTF">2026-07-14T17:13:10Z</dcterms:created>
  <dcterms:modified xsi:type="dcterms:W3CDTF">2026-07-14T17:13:10Z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DFD7896AFFCEB6ED266E566A34CE6E12_42</vt:lpwstr>
  </property>
  <property fmtid="{D5CDD505-2E9C-101B-9397-08002B2CF9AE}" pid="3" name="KSOProductBuildVer">
    <vt:lpwstr>2052-12.1.24709.24709</vt:lpwstr>
  </property>
</Properties>
</file>