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3880d173645d9" /><Relationship Type="http://schemas.openxmlformats.org/officeDocument/2006/relationships/extended-properties" Target="/docProps/app.xml" Id="Rf1374db0b82a44c5" /><Relationship Type="http://schemas.openxmlformats.org/officeDocument/2006/relationships/officeDocument" Target="/ppt/presentation.xml" Id="Rda69dd293dba40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2a6e80e1f4b1b"/>
  </p:sldMasterIdLst>
  <p:notesMasterIdLst>
    <p:notesMasterId xmlns:r="http://schemas.openxmlformats.org/officeDocument/2006/relationships" r:id="R5474172c864440c9"/>
  </p:notesMasterIdLst>
  <p:sldIdLst>
    <p:sldId xmlns:r="http://schemas.openxmlformats.org/officeDocument/2006/relationships" id="256" r:id="Rd3d33504f18b422b"/>
    <p:sldId xmlns:r="http://schemas.openxmlformats.org/officeDocument/2006/relationships" id="257" r:id="R6a7ba087a61a4352"/>
    <p:sldId xmlns:r="http://schemas.openxmlformats.org/officeDocument/2006/relationships" id="258" r:id="Red5cd574d45d4b36"/>
    <p:sldId xmlns:r="http://schemas.openxmlformats.org/officeDocument/2006/relationships" id="259" r:id="R854a76dea08d4882"/>
    <p:sldId xmlns:r="http://schemas.openxmlformats.org/officeDocument/2006/relationships" id="260" r:id="Rb845c4438755457b"/>
    <p:sldId xmlns:r="http://schemas.openxmlformats.org/officeDocument/2006/relationships" id="261" r:id="Rb68f90caa1b7457d"/>
    <p:sldId xmlns:r="http://schemas.openxmlformats.org/officeDocument/2006/relationships" id="262" r:id="Rf2b4b79fa8184b26"/>
    <p:sldId xmlns:r="http://schemas.openxmlformats.org/officeDocument/2006/relationships" id="263" r:id="R54854d4f05f04c91"/>
    <p:sldId xmlns:r="http://schemas.openxmlformats.org/officeDocument/2006/relationships" id="264" r:id="Rb56bb77648504f8f"/>
    <p:sldId xmlns:r="http://schemas.openxmlformats.org/officeDocument/2006/relationships" id="265" r:id="Rd0fbbfdac0ce4960"/>
    <p:sldId xmlns:r="http://schemas.openxmlformats.org/officeDocument/2006/relationships" id="266" r:id="R80550c9e0f474c41"/>
    <p:sldId xmlns:r="http://schemas.openxmlformats.org/officeDocument/2006/relationships" id="267" r:id="R0ad992a2bdd148a9"/>
    <p:sldId xmlns:r="http://schemas.openxmlformats.org/officeDocument/2006/relationships" id="268" r:id="R37e8f7096a5d472a"/>
    <p:sldId xmlns:r="http://schemas.openxmlformats.org/officeDocument/2006/relationships" id="269" r:id="Ra4485684a3b44cd9"/>
    <p:sldId xmlns:r="http://schemas.openxmlformats.org/officeDocument/2006/relationships" id="270" r:id="R1af2325bcb4248fa"/>
    <p:sldId xmlns:r="http://schemas.openxmlformats.org/officeDocument/2006/relationships" id="271" r:id="Rfa1e9155125f43cc"/>
    <p:sldId xmlns:r="http://schemas.openxmlformats.org/officeDocument/2006/relationships" id="272" r:id="R37d8d537bfc54113"/>
    <p:sldId xmlns:r="http://schemas.openxmlformats.org/officeDocument/2006/relationships" id="273" r:id="R07a55d0999564271"/>
    <p:sldId xmlns:r="http://schemas.openxmlformats.org/officeDocument/2006/relationships" id="274" r:id="R68a3f09ab6a84056"/>
    <p:sldId xmlns:r="http://schemas.openxmlformats.org/officeDocument/2006/relationships" id="275" r:id="R2d608357bf074139"/>
    <p:sldId xmlns:r="http://schemas.openxmlformats.org/officeDocument/2006/relationships" id="276" r:id="R0272376489c34ecf"/>
    <p:sldId xmlns:r="http://schemas.openxmlformats.org/officeDocument/2006/relationships" id="277" r:id="R21627995f69c4d38"/>
    <p:sldId xmlns:r="http://schemas.openxmlformats.org/officeDocument/2006/relationships" id="278" r:id="R2bbc5a502c4c4a89"/>
    <p:sldId xmlns:r="http://schemas.openxmlformats.org/officeDocument/2006/relationships" id="279" r:id="R011679362f594b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d031fec6964501" /><Relationship Type="http://schemas.openxmlformats.org/officeDocument/2006/relationships/slideMaster" Target="/ppt/slideMasters/slideMaster1.xml" Id="R6b82a6e80e1f4b1b" /><Relationship Type="http://schemas.openxmlformats.org/officeDocument/2006/relationships/notesMaster" Target="/ppt/notesMasters/notesMaster1.xml" Id="R5474172c864440c9" /><Relationship Type="http://schemas.openxmlformats.org/officeDocument/2006/relationships/presProps" Target="/ppt/presProps.xml" Id="R7548676f67e94110" /><Relationship Type="http://schemas.openxmlformats.org/officeDocument/2006/relationships/tableStyles" Target="/ppt/tableStyles.xml" Id="R429204e3c8484ccc" /><Relationship Type="http://schemas.openxmlformats.org/officeDocument/2006/relationships/slide" Target="/ppt/slides/slide1.xml" Id="Rd3d33504f18b422b" /><Relationship Type="http://schemas.openxmlformats.org/officeDocument/2006/relationships/slide" Target="/ppt/slides/slide2.xml" Id="R6a7ba087a61a4352" /><Relationship Type="http://schemas.openxmlformats.org/officeDocument/2006/relationships/slide" Target="/ppt/slides/slide3.xml" Id="Red5cd574d45d4b36" /><Relationship Type="http://schemas.openxmlformats.org/officeDocument/2006/relationships/slide" Target="/ppt/slides/slide4.xml" Id="R854a76dea08d4882" /><Relationship Type="http://schemas.openxmlformats.org/officeDocument/2006/relationships/slide" Target="/ppt/slides/slide5.xml" Id="Rb845c4438755457b" /><Relationship Type="http://schemas.openxmlformats.org/officeDocument/2006/relationships/slide" Target="/ppt/slides/slide6.xml" Id="Rb68f90caa1b7457d" /><Relationship Type="http://schemas.openxmlformats.org/officeDocument/2006/relationships/slide" Target="/ppt/slides/slide7.xml" Id="Rf2b4b79fa8184b26" /><Relationship Type="http://schemas.openxmlformats.org/officeDocument/2006/relationships/slide" Target="/ppt/slides/slide8.xml" Id="R54854d4f05f04c91" /><Relationship Type="http://schemas.openxmlformats.org/officeDocument/2006/relationships/slide" Target="/ppt/slides/slide9.xml" Id="Rb56bb77648504f8f" /><Relationship Type="http://schemas.openxmlformats.org/officeDocument/2006/relationships/slide" Target="/ppt/slides/slide10.xml" Id="Rd0fbbfdac0ce4960" /><Relationship Type="http://schemas.openxmlformats.org/officeDocument/2006/relationships/slide" Target="/ppt/slides/slide11.xml" Id="R80550c9e0f474c41" /><Relationship Type="http://schemas.openxmlformats.org/officeDocument/2006/relationships/slide" Target="/ppt/slides/slide12.xml" Id="R0ad992a2bdd148a9" /><Relationship Type="http://schemas.openxmlformats.org/officeDocument/2006/relationships/slide" Target="/ppt/slides/slide13.xml" Id="R37e8f7096a5d472a" /><Relationship Type="http://schemas.openxmlformats.org/officeDocument/2006/relationships/slide" Target="/ppt/slides/slide14.xml" Id="Ra4485684a3b44cd9" /><Relationship Type="http://schemas.openxmlformats.org/officeDocument/2006/relationships/slide" Target="/ppt/slides/slide15.xml" Id="R1af2325bcb4248fa" /><Relationship Type="http://schemas.openxmlformats.org/officeDocument/2006/relationships/slide" Target="/ppt/slides/slide16.xml" Id="Rfa1e9155125f43cc" /><Relationship Type="http://schemas.openxmlformats.org/officeDocument/2006/relationships/slide" Target="/ppt/slides/slide17.xml" Id="R37d8d537bfc54113" /><Relationship Type="http://schemas.openxmlformats.org/officeDocument/2006/relationships/slide" Target="/ppt/slides/slide18.xml" Id="R07a55d0999564271" /><Relationship Type="http://schemas.openxmlformats.org/officeDocument/2006/relationships/slide" Target="/ppt/slides/slide19.xml" Id="R68a3f09ab6a84056" /><Relationship Type="http://schemas.openxmlformats.org/officeDocument/2006/relationships/slide" Target="/ppt/slides/slide20.xml" Id="R2d608357bf074139" /><Relationship Type="http://schemas.openxmlformats.org/officeDocument/2006/relationships/slide" Target="/ppt/slides/slide21.xml" Id="R0272376489c34ecf" /><Relationship Type="http://schemas.openxmlformats.org/officeDocument/2006/relationships/slide" Target="/ppt/slides/slide22.xml" Id="R21627995f69c4d38" /><Relationship Type="http://schemas.openxmlformats.org/officeDocument/2006/relationships/slide" Target="/ppt/slides/slide23.xml" Id="R2bbc5a502c4c4a89" /><Relationship Type="http://schemas.openxmlformats.org/officeDocument/2006/relationships/slide" Target="/ppt/slides/slide24.xml" Id="R011679362f59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b6846c230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af29a5d90402a" /><Relationship Type="http://schemas.openxmlformats.org/officeDocument/2006/relationships/notesMaster" Target="/ppt/notesMasters/notesMaster1.xml" Id="R8992cb53e22e45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39619e08a48f4" /><Relationship Type="http://schemas.openxmlformats.org/officeDocument/2006/relationships/notesMaster" Target="/ppt/notesMasters/notesMaster1.xml" Id="Ra0688435619a4f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340ddec0d4bb7" /><Relationship Type="http://schemas.openxmlformats.org/officeDocument/2006/relationships/notesMaster" Target="/ppt/notesMasters/notesMaster1.xml" Id="Rd90cc4c88ada40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0ad902420441b" /><Relationship Type="http://schemas.openxmlformats.org/officeDocument/2006/relationships/notesMaster" Target="/ppt/notesMasters/notesMaster1.xml" Id="R055189dd0883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8f95332db4982" /><Relationship Type="http://schemas.openxmlformats.org/officeDocument/2006/relationships/notesMaster" Target="/ppt/notesMasters/notesMaster1.xml" Id="R8c36a9eb0aaf4e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38d4830d4441c" /><Relationship Type="http://schemas.openxmlformats.org/officeDocument/2006/relationships/notesMaster" Target="/ppt/notesMasters/notesMaster1.xml" Id="R864fb1e57c74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d1bd599704d46" /><Relationship Type="http://schemas.openxmlformats.org/officeDocument/2006/relationships/notesMaster" Target="/ppt/notesMasters/notesMaster1.xml" Id="R6ed99527b4ed4b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7f65fd49fe4e41" /><Relationship Type="http://schemas.openxmlformats.org/officeDocument/2006/relationships/notesMaster" Target="/ppt/notesMasters/notesMaster1.xml" Id="R61ec165d62ae41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5a8e6e5d934a0a" /><Relationship Type="http://schemas.openxmlformats.org/officeDocument/2006/relationships/notesMaster" Target="/ppt/notesMasters/notesMaster1.xml" Id="Rd2ea3b0cb03e41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9df53ba810432f" /><Relationship Type="http://schemas.openxmlformats.org/officeDocument/2006/relationships/notesMaster" Target="/ppt/notesMasters/notesMaster1.xml" Id="R9772b6772df245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1b9b28d6ef4c2a" /><Relationship Type="http://schemas.openxmlformats.org/officeDocument/2006/relationships/notesMaster" Target="/ppt/notesMasters/notesMaster1.xml" Id="R0899cc7545134b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875249964d4d89" /><Relationship Type="http://schemas.openxmlformats.org/officeDocument/2006/relationships/notesMaster" Target="/ppt/notesMasters/notesMaster1.xml" Id="Rd14c0c59488e4b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666dd8724b4e9d" /><Relationship Type="http://schemas.openxmlformats.org/officeDocument/2006/relationships/notesMaster" Target="/ppt/notesMasters/notesMaster1.xml" Id="R93e6460866e743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41c1bcfe804367" /><Relationship Type="http://schemas.openxmlformats.org/officeDocument/2006/relationships/notesMaster" Target="/ppt/notesMasters/notesMaster1.xml" Id="R804339082f9c45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e1eab4213046b8" /><Relationship Type="http://schemas.openxmlformats.org/officeDocument/2006/relationships/notesMaster" Target="/ppt/notesMasters/notesMaster1.xml" Id="R6698f23c487740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a2e7d6e8fc4418" /><Relationship Type="http://schemas.openxmlformats.org/officeDocument/2006/relationships/notesMaster" Target="/ppt/notesMasters/notesMaster1.xml" Id="Rcca2c2a4f4784b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6fefd73ab04bab" /><Relationship Type="http://schemas.openxmlformats.org/officeDocument/2006/relationships/notesMaster" Target="/ppt/notesMasters/notesMaster1.xml" Id="R00acb2cef5f940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2bef7e5df141d3" /><Relationship Type="http://schemas.openxmlformats.org/officeDocument/2006/relationships/notesMaster" Target="/ppt/notesMasters/notesMaster1.xml" Id="R9bd50d6233054b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d3d16e01194e39" /><Relationship Type="http://schemas.openxmlformats.org/officeDocument/2006/relationships/notesMaster" Target="/ppt/notesMasters/notesMaster1.xml" Id="R99a3e5aadea247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aa97f1715046fc" /><Relationship Type="http://schemas.openxmlformats.org/officeDocument/2006/relationships/notesMaster" Target="/ppt/notesMasters/notesMaster1.xml" Id="R33c9336ff8c140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d1cd8d6adf4af6" /><Relationship Type="http://schemas.openxmlformats.org/officeDocument/2006/relationships/notesMaster" Target="/ppt/notesMasters/notesMaster1.xml" Id="R221081108c9346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4c1f0149f1492c" /><Relationship Type="http://schemas.openxmlformats.org/officeDocument/2006/relationships/notesMaster" Target="/ppt/notesMasters/notesMaster1.xml" Id="R37918390ea6046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f8e8ee73c4409b" /><Relationship Type="http://schemas.openxmlformats.org/officeDocument/2006/relationships/notesMaster" Target="/ppt/notesMasters/notesMaster1.xml" Id="Rfc956c9c3e504a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28340ce4bb4f56" /><Relationship Type="http://schemas.openxmlformats.org/officeDocument/2006/relationships/notesMaster" Target="/ppt/notesMasters/notesMaster1.xml" Id="Rc995407e9f99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开场：告诉学生今天不是背一个固定答案，而是学会比较标题。</a:t>
            </a:r>
          </a:p>
          <a:p xmlns:a="http://schemas.openxmlformats.org/drawingml/2006/main">
            <a:r>
              <a:t>强调：标题题的难点在“说理由”，不是在“猜标准答案”。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可让学生在本页写下今天的个人目标：少丢哪一类分？</a:t>
            </a:r>
          </a:p>
          <a:p xmlns:a="http://schemas.openxmlformats.org/drawingml/2006/main">
            <a:r>
              <a:t>过渡：先看题干到底在问什么。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提问：如果两个标题都能概括文章，为什么老师还要你选择？</a:t>
            </a:r>
          </a:p>
          <a:p xmlns:a="http://schemas.openxmlformats.org/drawingml/2006/main">
            <a:r>
              <a:t>引出：比较意识是这类题的核心。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这里使用原资料中的思路图。</a:t>
            </a:r>
          </a:p>
          <a:p xmlns:a="http://schemas.openxmlformats.org/drawingml/2006/main">
            <a:r>
              <a:t>课堂动作：每一步都请学生用一个短语回答，不急着看答案。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用《打乒乓的父亲》做伏笔：它能写父亲，但可能罩不住“我”的成长。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强调：主题不是泛泛写“表达感情”，要说出是哪一种情感或思考。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让学生回忆：线索题和标题题经常重合。</a:t>
            </a:r>
          </a:p>
          <a:p xmlns:a="http://schemas.openxmlformats.org/drawingml/2006/main">
            <a:r>
              <a:t>过渡到第四把尺子：表达效果。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提示学生：不要只写“吸引读者兴趣”，这是空话。</a:t>
            </a:r>
          </a:p>
          <a:p xmlns:a="http://schemas.openxmlformats.org/drawingml/2006/main">
            <a:r>
              <a:t>要补：吸引读者关注什么、思考什么。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让学生齐读模板，但提醒：括号内容必须来自文章，不能凭空套。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课堂动作：先让学生选 A/B，不讲答案。</a:t>
            </a:r>
          </a:p>
          <a:p xmlns:a="http://schemas.openxmlformats.org/drawingml/2006/main">
            <a:r>
              <a:t>追问：如果选 A，文中写“我”的部分怎么处理？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追问：如果标题只有“父亲”，能不能涵盖我从少年到中年的成长？</a:t>
            </a:r>
          </a:p>
          <a:p xmlns:a="http://schemas.openxmlformats.org/drawingml/2006/main">
            <a:r>
              <a:t>引导学生说出“线索”和“情感纽带”。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这页是答案揭示。</a:t>
            </a:r>
          </a:p>
          <a:p xmlns:a="http://schemas.openxmlformats.org/drawingml/2006/main">
            <a:r>
              <a:t>强调：不是 A 完全错，而是 B 得分更高。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可让学生把自己的答案升级一遍。</a:t>
            </a:r>
          </a:p>
          <a:p xmlns:a="http://schemas.openxmlformats.org/drawingml/2006/main">
            <a:r>
              <a:t>过渡：现在换材料，学生自己套四把尺子。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先让学生找结尾：慢慢醒来，焕彩重生。</a:t>
            </a:r>
          </a:p>
          <a:p xmlns:a="http://schemas.openxmlformats.org/drawingml/2006/main">
            <a:r>
              <a:t>提示：两个标题都可以，但第一题更适合训练拟人和呼应。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指出：第二个标题也能得分，但第一更有文学表达与结尾呼应。</a:t>
            </a:r>
          </a:p>
          <a:p xmlns:a="http://schemas.openxmlformats.org/drawingml/2006/main">
            <a:r>
              <a:t>让学生口头完成 6 分答案。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提醒学生：遇到开放题，标题没有绝对唯一，理由必须自洽。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可以让两组学生分别为两个标题找证据，形成辩论。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引导学生不要迷信“引用诗句一定高级”。</a:t>
            </a:r>
          </a:p>
          <a:p xmlns:a="http://schemas.openxmlformats.org/drawingml/2006/main">
            <a:r>
              <a:t>比较：标题统领全文比单纯文采更重要。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这页可作为板书前的归纳。</a:t>
            </a:r>
          </a:p>
          <a:p xmlns:a="http://schemas.openxmlformats.org/drawingml/2006/main">
            <a:r>
              <a:t>提醒：作用词不能裸奔，后面必须接文本内容。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可让学生把本页模板套到第一篇中，限时 2 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建议用一个学生答案现场诊断：它掉进了哪个坑？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可作为课上最后一次方法口令。</a:t>
            </a:r>
          </a:p>
          <a:p xmlns:a="http://schemas.openxmlformats.org/drawingml/2006/main">
            <a:r>
              <a:t>让学生闭卷复述四步。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让学生写在纸上或口头回答。</a:t>
            </a:r>
          </a:p>
          <a:p xmlns:a="http://schemas.openxmlformats.org/drawingml/2006/main">
            <a:r>
              <a:t>如果时间不够，练习 B 可作为课后任务。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收束：用一句话强化标题的统领作用。</a:t>
            </a:r>
          </a:p>
          <a:p xmlns:a="http://schemas.openxmlformats.org/drawingml/2006/main">
            <a:r>
              <a:t>课后可要求学生交一段答案，我可以继续帮你批改成分层反馈。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2312ae18d4c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b7fc657dea4a69" /><Relationship Type="http://schemas.openxmlformats.org/officeDocument/2006/relationships/slideLayout" Target="/ppt/slideLayouts/slideLayout1.xml" Id="R3b6e6b00ceca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e6b00ceca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39e3fc4454eda" /><Relationship Type="http://schemas.openxmlformats.org/officeDocument/2006/relationships/notesSlide" Target="/ppt/notesSlides/notesSlide1.xml" Id="R433e2c937abe41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a4304aef42fb" /><Relationship Type="http://schemas.openxmlformats.org/officeDocument/2006/relationships/notesSlide" Target="/ppt/notesSlides/notesSlide2.xml" Id="Rc863b0006cfc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e726d22148ac" /><Relationship Type="http://schemas.openxmlformats.org/officeDocument/2006/relationships/image" Target="/ppt/media/image.png" Id="Rc105035cbb2146b4" /><Relationship Type="http://schemas.openxmlformats.org/officeDocument/2006/relationships/notesSlide" Target="/ppt/notesSlides/notesSlide3.xml" Id="R2282af9d2b0c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8c201c96a46ad" /><Relationship Type="http://schemas.openxmlformats.org/officeDocument/2006/relationships/image" Target="/ppt/media/image2.png" Id="R60093a32bb3c460f" /><Relationship Type="http://schemas.openxmlformats.org/officeDocument/2006/relationships/notesSlide" Target="/ppt/notesSlides/notesSlide4.xml" Id="R3aade24fcfcf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6f0106a0a4e0e" /><Relationship Type="http://schemas.openxmlformats.org/officeDocument/2006/relationships/notesSlide" Target="/ppt/notesSlides/notesSlide5.xml" Id="R294816346a70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ef82686846ab" /><Relationship Type="http://schemas.openxmlformats.org/officeDocument/2006/relationships/notesSlide" Target="/ppt/notesSlides/notesSlide6.xml" Id="R06e6e5f0f39d45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f4ded82354f11" /><Relationship Type="http://schemas.openxmlformats.org/officeDocument/2006/relationships/notesSlide" Target="/ppt/notesSlides/notesSlide7.xml" Id="R86a87ebe2102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2a83845594500" /><Relationship Type="http://schemas.openxmlformats.org/officeDocument/2006/relationships/notesSlide" Target="/ppt/notesSlides/notesSlide8.xml" Id="R6e685310615c40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2d2ae04134840" /><Relationship Type="http://schemas.openxmlformats.org/officeDocument/2006/relationships/notesSlide" Target="/ppt/notesSlides/notesSlide9.xml" Id="R0688b795676b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eed16823f41ca" /><Relationship Type="http://schemas.openxmlformats.org/officeDocument/2006/relationships/image" Target="/ppt/media/image3.png" Id="R8fbc6c126e5c43fd" /><Relationship Type="http://schemas.openxmlformats.org/officeDocument/2006/relationships/notesSlide" Target="/ppt/notesSlides/notesSlide10.xml" Id="R3d45562b9f8a44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35da975624a34" /><Relationship Type="http://schemas.openxmlformats.org/officeDocument/2006/relationships/notesSlide" Target="/ppt/notesSlides/notesSlide11.xml" Id="R7a6b2bca013244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cd555742d4789" /><Relationship Type="http://schemas.openxmlformats.org/officeDocument/2006/relationships/notesSlide" Target="/ppt/notesSlides/notesSlide12.xml" Id="Rc6ec28b0c72148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262bfbf14d36" /><Relationship Type="http://schemas.openxmlformats.org/officeDocument/2006/relationships/notesSlide" Target="/ppt/notesSlides/notesSlide13.xml" Id="R21f27441f35a4e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17e6443144a4b" /><Relationship Type="http://schemas.openxmlformats.org/officeDocument/2006/relationships/image" Target="/ppt/media/image4.png" Id="R95b7f7d1bab84ac5" /><Relationship Type="http://schemas.openxmlformats.org/officeDocument/2006/relationships/notesSlide" Target="/ppt/notesSlides/notesSlide14.xml" Id="R8dd5f5ea647d40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6d0cc98884537" /><Relationship Type="http://schemas.openxmlformats.org/officeDocument/2006/relationships/notesSlide" Target="/ppt/notesSlides/notesSlide15.xml" Id="R8ccf438613bb47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c2ea734844d5" /><Relationship Type="http://schemas.openxmlformats.org/officeDocument/2006/relationships/notesSlide" Target="/ppt/notesSlides/notesSlide16.xml" Id="R7cbf484b40ac46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3054e26d442a0" /><Relationship Type="http://schemas.openxmlformats.org/officeDocument/2006/relationships/notesSlide" Target="/ppt/notesSlides/notesSlide17.xml" Id="Rf6543d284de248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8ab0e805422b" /><Relationship Type="http://schemas.openxmlformats.org/officeDocument/2006/relationships/notesSlide" Target="/ppt/notesSlides/notesSlide18.xml" Id="R2146f189a1da46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9bd6f044f4240" /><Relationship Type="http://schemas.openxmlformats.org/officeDocument/2006/relationships/notesSlide" Target="/ppt/notesSlides/notesSlide19.xml" Id="R8068ad05ad524c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98801c706453c" /><Relationship Type="http://schemas.openxmlformats.org/officeDocument/2006/relationships/notesSlide" Target="/ppt/notesSlides/notesSlide20.xml" Id="R1c84c83bf52b48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c24b8ae0749a5" /><Relationship Type="http://schemas.openxmlformats.org/officeDocument/2006/relationships/notesSlide" Target="/ppt/notesSlides/notesSlide21.xml" Id="R6a7ecb90d7334c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1c561faf64e8d" /><Relationship Type="http://schemas.openxmlformats.org/officeDocument/2006/relationships/notesSlide" Target="/ppt/notesSlides/notesSlide22.xml" Id="Rca07dc4cf3924b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bf439d2f94378" /><Relationship Type="http://schemas.openxmlformats.org/officeDocument/2006/relationships/image" Target="/ppt/media/image5.png" Id="R51a29789b74a4c73" /><Relationship Type="http://schemas.openxmlformats.org/officeDocument/2006/relationships/notesSlide" Target="/ppt/notesSlides/notesSlide23.xml" Id="R17acb3d84f5849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921ab2a014a5e" /><Relationship Type="http://schemas.openxmlformats.org/officeDocument/2006/relationships/notesSlide" Target="/ppt/notesSlides/notesSlide24.xml" Id="R8bbab04feaec48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3ACAF-743E-4AD5-ADD3-EDA7F1E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8F1E-2CCA-43CC-B7F0-E829692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72C15-1A87-49C4-B107-4C90671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8BC0A-5B2A-4664-94A0-3E8B126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第五讲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CBE03-1FF3-4D9F-8C8C-5F8224AC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散文阅读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8E01C-4373-4E6A-A14E-C86952C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525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3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 i="0">
                <a:solidFill>
                  <a:srgbClr val="1F2325"/>
                </a:solidFill>
              </a:defRPr>
            </a:pPr>
            <a:r>
              <a:rPr sz="4500" b="1" i="0">
                <a:solidFill>
                  <a:srgbClr val="1F2325"/>
                </a:solidFill>
              </a:rPr>
              <a:t>选择标题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CAA4F-AFA8-4AB0-B23A-BCCD638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09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7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687174"/>
                </a:solidFill>
              </a:defRPr>
            </a:pPr>
            <a:r>
              <a:rPr sz="1800" b="0" i="0">
                <a:solidFill>
                  <a:srgbClr val="687174"/>
                </a:solidFill>
              </a:rPr>
              <a:t>用四把尺子判断标题：内容、主题、结构、表达效果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59045-9F91-4C28-91FF-C4597DB7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64960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DFD9C-7E2E-4794-9EB7-26BF556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0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0E6B67"/>
                </a:solidFill>
              </a:defRPr>
            </a:pPr>
            <a:r>
              <a:rPr sz="1950" b="1" i="0">
                <a:solidFill>
                  <a:srgbClr val="0E6B67"/>
                </a:solidFill>
              </a:rPr>
              <a:t>本节课目标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54BB5-F164-41CE-ABA9-4D1ACA1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779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650">
                <a:solidFill>
                  <a:srgbClr val="1F2325"/>
                </a:solidFill>
              </a:defRPr>
            </a:pPr>
            <a:r>
              <a:rPr sz="1650">
                <a:solidFill>
                  <a:srgbClr val="1F2325"/>
                </a:solidFill>
              </a:rPr>
              <a:t>能判断两个标题各自的优劣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650">
                <a:solidFill>
                  <a:srgbClr val="1F2325"/>
                </a:solidFill>
              </a:defRPr>
            </a:pPr>
            <a:r>
              <a:rPr sz="1650">
                <a:solidFill>
                  <a:srgbClr val="1F2325"/>
                </a:solidFill>
              </a:rPr>
              <a:t>能把“为什么”写成可得分的理由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650">
                <a:solidFill>
                  <a:srgbClr val="1F2325"/>
                </a:solidFill>
              </a:defRPr>
            </a:pPr>
            <a:r>
              <a:rPr sz="1650">
                <a:solidFill>
                  <a:srgbClr val="1F2325"/>
                </a:solidFill>
              </a:rPr>
              <a:t>能在标题题中少丢比较分、主题分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ED58E-C8C0-4F74-8681-B57C314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102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1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初三语文 · 散文阅读专题</a:t>
            </a:r>
          </a:p>
        </p:txBody>
      </p:sp>
    </p:spTree>
    <p:extLst>
      <p:ext uri="{BB962C8B-B14F-4D97-AF65-F5344CB8AC3E}">
        <p14:creationId xmlns:p14="http://schemas.microsoft.com/office/powerpoint/2010/main" val="2101503147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5062B-F006-4F22-8424-29B89FBE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B5EAD-CE1D-4C34-A7A2-AC806DF3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28B7-2A5F-4231-8FE6-1CF9BE4B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2A38A-2E6C-4D52-A4B1-F0BE59F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学习目标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B6425-144A-4185-B21F-FBD26954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23D96-A80C-4809-9DD2-B2AAD7C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这节课要解决的不是选标题，而是说明为什么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7F7DB-3F21-4D1C-B78A-04F716A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标题选择题常常两个标题都能说通，高分来自比较和证据。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DCEEE-8FFF-445E-AB59-B0766FB3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FCC1-25EC-4A6A-9A95-59F0E2A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289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99DC8-2045-4933-82E1-B563EF5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39527A"/>
                </a:solidFill>
              </a:defRPr>
            </a:pPr>
            <a:r>
              <a:rPr sz="2550" b="1" i="0">
                <a:solidFill>
                  <a:srgbClr val="39527A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9382A-78BB-4EC8-82EB-292C485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识别题干：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97993-E30F-4EF3-AA6C-5520B29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从“选择一个标题”看到“说明理由”的得分点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51C0C-759E-4182-8FC6-74D6DC3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289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F6992-7478-4096-B18E-BE1C1A2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0E6B67"/>
                </a:solidFill>
              </a:defRPr>
            </a:pPr>
            <a:r>
              <a:rPr sz="2550" b="1" i="0">
                <a:solidFill>
                  <a:srgbClr val="0E6B67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98034-91FE-4AE0-8CE0-3828CFC9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62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建立尺子：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BDB4A-F04D-4D0E-B42E-18A53D5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内容、主题、结构、表达效果四维判断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001A0-B78C-4A06-8427-1124C37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0289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3DB55-8E1D-436C-AB03-5771689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C98928"/>
                </a:solidFill>
              </a:defRPr>
            </a:pPr>
            <a:r>
              <a:rPr sz="2550" b="1" i="0">
                <a:solidFill>
                  <a:srgbClr val="C9892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654D3-1444-48F1-9869-0360A15D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训练表达：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C1842-0138-4D5C-9BB1-FF47F26B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用“选择 + 文本依据 + 标题作用 + 比较”组织答案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0547D-91EC-4F66-B2F1-099E7235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F2325"/>
                </a:solidFill>
              </a:defRPr>
            </a:pPr>
            <a:r>
              <a:rPr sz="2100" b="1" i="0">
                <a:solidFill>
                  <a:srgbClr val="1F2325"/>
                </a:solidFill>
              </a:rPr>
              <a:t>课堂节奏：先判断，再看证据；先说通，再说满。</a:t>
            </a:r>
          </a:p>
        </p:txBody>
      </p:sp>
    </p:spTree>
    <p:extLst>
      <p:ext uri="{BB962C8B-B14F-4D97-AF65-F5344CB8AC3E}">
        <p14:creationId xmlns:p14="http://schemas.microsoft.com/office/powerpoint/2010/main" val="1879701508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49E6E-EFAE-46BE-8D16-711DACC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9D3B-A329-47DE-87FB-B55F4F5B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5D58A-2D43-46A3-991D-A3D6A6F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D8CAC-D94B-4742-A0B2-F98ED163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审题入口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39BB5-A3CE-4591-A974-D0C36967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035cbb2146b4"/>
          <a:stretch xmlns:a="http://schemas.openxmlformats.org/drawingml/2006/main"/>
        </p:blipFill>
        <p:spPr>
          <a:xfrm xmlns:a="http://schemas.openxmlformats.org/drawingml/2006/main">
            <a:off x="8191500" y="591420"/>
            <a:ext cx="2381250" cy="5221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EFC12-C7E4-4878-9D33-8B8CCA22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题干只问“选择”，答案必须写“理由”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CC906-3185-4ACB-A6E2-00A0CE3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标题题的得分点藏在理由里。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02BC2-28B0-4207-B0DF-BA3E82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5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3086F-FF78-40D4-BC7D-6EEC850E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C65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BEC7A-C360-42AC-991C-F36EA999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3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 i="0">
                <a:solidFill>
                  <a:srgbClr val="C6504A"/>
                </a:solidFill>
              </a:defRPr>
            </a:pPr>
            <a:r>
              <a:rPr sz="2400" b="1" i="0">
                <a:solidFill>
                  <a:srgbClr val="C6504A"/>
                </a:solidFill>
              </a:rPr>
              <a:t>题干关键点：选择一个标题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4AB22-B978-471E-8378-1D418CCF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 i="0">
                <a:solidFill>
                  <a:srgbClr val="1F2325"/>
                </a:solidFill>
              </a:defRPr>
            </a:pPr>
            <a:r>
              <a:rPr sz="2400" b="1" i="0">
                <a:solidFill>
                  <a:srgbClr val="1F2325"/>
                </a:solidFill>
              </a:rPr>
              <a:t>答题不是“我喜欢哪一个”，而是“哪个标题更能统领这篇文章”。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E95F5-2B10-4C19-9948-2773692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914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00">
                <a:solidFill>
                  <a:srgbClr val="1F2325"/>
                </a:solidFill>
              </a:defRPr>
            </a:pPr>
            <a:r>
              <a:rPr sz="1800">
                <a:solidFill>
                  <a:srgbClr val="1F2325"/>
                </a:solidFill>
              </a:rPr>
              <a:t>先圈题目中的两个候选标题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00">
                <a:solidFill>
                  <a:srgbClr val="1F2325"/>
                </a:solidFill>
              </a:defRPr>
            </a:pPr>
            <a:r>
              <a:rPr sz="1800">
                <a:solidFill>
                  <a:srgbClr val="1F2325"/>
                </a:solidFill>
              </a:rPr>
              <a:t>再回文章找反复出现的人、物、事、情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00">
                <a:solidFill>
                  <a:srgbClr val="1F2325"/>
                </a:solidFill>
              </a:defRPr>
            </a:pPr>
            <a:r>
              <a:rPr sz="1800">
                <a:solidFill>
                  <a:srgbClr val="1F2325"/>
                </a:solidFill>
              </a:rPr>
              <a:t>最后比较：谁的范围更准？谁的主题更深？</a:t>
            </a:r>
          </a:p>
        </p:txBody>
      </p:sp>
    </p:spTree>
    <p:extLst>
      <p:ext uri="{BB962C8B-B14F-4D97-AF65-F5344CB8AC3E}">
        <p14:creationId xmlns:p14="http://schemas.microsoft.com/office/powerpoint/2010/main" val="729493324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A052D-03D1-42BB-B570-889FAF0E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560B6-5BBB-4C7F-8D23-54A2C70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20ABC-0BE0-47FF-917B-00DB5B9F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9A71A-1D77-4490-99C3-8BA4741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理思路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B440D-5501-42EF-8F12-3AA3906C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A23BA-2F4A-47FE-87F6-B37A055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先用三步把文章读成一张图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33160-003A-42E5-9B7B-062CF8A2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从大意到关键词，再到标题理由。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34224-0535-4EA1-A1ED-F9C84131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93a32bb3c460f"/>
          <a:stretch xmlns:a="http://schemas.openxmlformats.org/drawingml/2006/main"/>
        </p:blipFill>
        <p:spPr>
          <a:xfrm xmlns:a="http://schemas.openxmlformats.org/drawingml/2006/main">
            <a:off x="1371600" y="2269230"/>
            <a:ext cx="9448800" cy="303391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1CDB9-F132-4311-85F2-04BCC83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687174"/>
                </a:solidFill>
              </a:defRPr>
            </a:pPr>
            <a:r>
              <a:rPr sz="1650" b="0" i="0">
                <a:solidFill>
                  <a:srgbClr val="687174"/>
                </a:solidFill>
              </a:rPr>
              <a:t>播放时按三步停顿：先让学生说文章写了什么，再问文章反复强调什么，最后才回到标题。</a:t>
            </a:r>
          </a:p>
        </p:txBody>
      </p:sp>
    </p:spTree>
    <p:extLst>
      <p:ext uri="{BB962C8B-B14F-4D97-AF65-F5344CB8AC3E}">
        <p14:creationId xmlns:p14="http://schemas.microsoft.com/office/powerpoint/2010/main" val="240220330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FC012-B4E1-4015-85B2-4B951C0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CFE3-289F-4C5C-AEDD-8454B5CA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76216-27B4-42EA-9E2B-1169EC7C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A3C9B-A954-43E8-BE7C-B4A70D2F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四把尺子 ·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6B18B-CC0E-4594-9714-F971360B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B151-3F58-4B20-A9F5-39638A76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第一把尺子：标题能不能罩住主要内容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AD5FC-CC08-4164-8C2D-B00853F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先看标题有没有把文章核心对象和主要事件说准。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38CC-C1DF-4469-9985-8A84D299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088DC-AA3F-405C-904C-6E9E95F4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85775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08EC1-5AFF-4E18-BF41-E1404A44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 i="0">
                <a:solidFill>
                  <a:srgbClr val="39527A"/>
                </a:solidFill>
              </a:defRPr>
            </a:pPr>
            <a:r>
              <a:rPr sz="3300" b="1" i="0">
                <a:solidFill>
                  <a:srgbClr val="39527A"/>
                </a:solidFill>
              </a:rPr>
              <a:t>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56ECE-7235-4C7B-BE4B-DEAD0A2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 i="0">
                <a:solidFill>
                  <a:srgbClr val="1F2325"/>
                </a:solidFill>
              </a:defRPr>
            </a:pPr>
            <a:r>
              <a:rPr sz="2100" b="0" i="0">
                <a:solidFill>
                  <a:srgbClr val="1F2325"/>
                </a:solidFill>
              </a:rPr>
              <a:t>问自己：文章主要写谁？围绕什么物、事、经历展开？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7D51E-FD8D-4A69-AB7E-4B0125F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810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70ABA-1AC2-42D1-BB89-CC3F804A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0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C6504A"/>
                </a:solidFill>
              </a:defRPr>
            </a:pPr>
            <a:r>
              <a:rPr sz="1950" b="1" i="0">
                <a:solidFill>
                  <a:srgbClr val="C6504A"/>
                </a:solidFill>
              </a:rPr>
              <a:t>标题太窄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DB53D-5ACC-4E32-AFCA-589B939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687174"/>
                </a:solidFill>
              </a:defRPr>
            </a:pPr>
            <a:r>
              <a:rPr sz="1650" b="0" i="0">
                <a:solidFill>
                  <a:srgbClr val="687174"/>
                </a:solidFill>
              </a:rPr>
              <a:t>只抓住一个人物或一个片段，容易漏掉成长、情感和主题。</a:t>
            </a:r>
          </a:p>
        </p:txBody>
      </p:sp>
    </p:spTree>
    <p:extLst>
      <p:ext uri="{BB962C8B-B14F-4D97-AF65-F5344CB8AC3E}">
        <p14:creationId xmlns:p14="http://schemas.microsoft.com/office/powerpoint/2010/main" val="62259533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6B3F2E-4860-49F7-B19A-C8EC7D1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6A13A-A8A7-4E90-97CF-A57D2F9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A38D7-257B-4AEE-AE54-A8007C1D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71E79-F76B-4FB4-A89B-F125DAA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四把尺子 ·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EAE96-A6E0-4A3D-85F2-6E82715C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A2D7D-67A8-4EED-A599-A570BDD7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第二把尺子：标题能不能点出主题深度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E1E30-A4F0-41BB-806E-D30E3BE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好标题不只是说“写了什么”，还要能暗示“为什么写”。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B80BC-95AA-4769-82F3-0454CDE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4D55-0EC4-4896-A63A-1716A776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85775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FFAAB-218E-4719-B494-9EDC43DB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 i="0">
                <a:solidFill>
                  <a:srgbClr val="0E6B67"/>
                </a:solidFill>
              </a:defRPr>
            </a:pPr>
            <a:r>
              <a:rPr sz="3300" b="1" i="0">
                <a:solidFill>
                  <a:srgbClr val="0E6B67"/>
                </a:solidFill>
              </a:rPr>
              <a:t>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F5BFE-FC47-44E5-9F74-864C2960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 i="0">
                <a:solidFill>
                  <a:srgbClr val="1F2325"/>
                </a:solidFill>
              </a:defRPr>
            </a:pPr>
            <a:r>
              <a:rPr sz="2100" b="0" i="0">
                <a:solidFill>
                  <a:srgbClr val="1F2325"/>
                </a:solidFill>
              </a:rPr>
              <a:t>问自己：这个标题能否指向情感、态度、哲理或价值？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2607-BF53-43A4-94DD-3975EE7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75">
                <a:solidFill>
                  <a:srgbClr val="1F2325"/>
                </a:solidFill>
              </a:defRPr>
            </a:pPr>
            <a:r>
              <a:rPr sz="1875">
                <a:solidFill>
                  <a:srgbClr val="1F2325"/>
                </a:solidFill>
              </a:rPr>
              <a:t>父子情感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75">
                <a:solidFill>
                  <a:srgbClr val="1F2325"/>
                </a:solidFill>
              </a:defRPr>
            </a:pPr>
            <a:r>
              <a:rPr sz="1875">
                <a:solidFill>
                  <a:srgbClr val="1F2325"/>
                </a:solidFill>
              </a:rPr>
              <a:t>乡村文化传承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75">
                <a:solidFill>
                  <a:srgbClr val="1F2325"/>
                </a:solidFill>
              </a:defRPr>
            </a:pPr>
            <a:r>
              <a:rPr sz="1875">
                <a:solidFill>
                  <a:srgbClr val="1F2325"/>
                </a:solidFill>
              </a:rPr>
              <a:t>万物沟通与亲近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75">
                <a:solidFill>
                  <a:srgbClr val="1F2325"/>
                </a:solidFill>
              </a:defRPr>
            </a:pPr>
            <a:r>
              <a:rPr sz="1875">
                <a:solidFill>
                  <a:srgbClr val="1F2325"/>
                </a:solidFill>
              </a:rPr>
              <a:t>五味调和的人生智慧</a:t>
            </a:r>
          </a:p>
        </p:txBody>
      </p:sp>
    </p:spTree>
    <p:extLst>
      <p:ext uri="{BB962C8B-B14F-4D97-AF65-F5344CB8AC3E}">
        <p14:creationId xmlns:p14="http://schemas.microsoft.com/office/powerpoint/2010/main" val="543865946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7E8AC-87E3-4979-9B0F-C0DD31D8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98C2B-4733-46EE-B4D0-AD3B281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FA7F1-745A-4AB1-B92B-13848005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E417-1797-41E5-ABC9-0665E32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四把尺子 ·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1AD25-EEC5-4E9C-A763-308A20A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CC323-5EF3-49B8-AF41-CC2AFB6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第三把尺子：标题能不能串起文章结构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F4E9-9363-4A21-816E-B5E518C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散文标题常常是线索，也常常和开头、结尾互相照应。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9A13-DE94-4985-8E89-29346F9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9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C891D-0902-4D7C-A8B4-BA89178E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381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8BD0D-81E0-4B60-B262-BCE18CD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2381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8C689-4757-4019-8C8F-8A356A29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381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59B80-51AE-4EAF-A451-CFDFDA1E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861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7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开头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20F8A-FE15-41DE-98E6-81B75E5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7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中间反复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26F1A-FEF1-4225-9DF1-85387B73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7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C98928"/>
                </a:solidFill>
              </a:defRPr>
            </a:pPr>
            <a:r>
              <a:rPr sz="2250" b="1" i="0">
                <a:solidFill>
                  <a:srgbClr val="C98928"/>
                </a:solidFill>
              </a:rPr>
              <a:t>结尾点题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D63B4-7692-4E28-99E6-5DC09B99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9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321D2-FCD9-4755-BACB-9CACD98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9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50E4A-E7EB-49EF-853C-CA8D6A6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1F2325"/>
                </a:solidFill>
              </a:defRPr>
            </a:pPr>
            <a:r>
              <a:rPr sz="2400" b="1" i="0">
                <a:solidFill>
                  <a:srgbClr val="1F2325"/>
                </a:solidFill>
              </a:rPr>
              <a:t>看标题是否像一根线，把材料、情感和结尾收束起来。</a:t>
            </a:r>
          </a:p>
        </p:txBody>
      </p:sp>
    </p:spTree>
    <p:extLst>
      <p:ext uri="{BB962C8B-B14F-4D97-AF65-F5344CB8AC3E}">
        <p14:creationId xmlns:p14="http://schemas.microsoft.com/office/powerpoint/2010/main" val="720289810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D0499-AB7F-4EEC-8B74-1BA56C19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E17C6-8D45-47CE-B452-B934F06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2B35-13EA-4D37-8097-A532630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2B51-6F93-48B6-8392-AC8DE44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四把尺子 ·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A7671-E143-401A-BD0E-04E4B04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2945C-C284-43F6-BE41-6BB36CA0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第四把尺子：标题有没有表达上的加分点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45AF0-F1C5-4126-8EBC-0401AE1A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修辞、悬念、诗意、对比，都要落回文本。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2DFA9-9BCB-4FAA-926D-13BE38A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E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262C0-E7CD-4ED3-9CF2-D422F9F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648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0E7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18974-0F1C-4D7A-A855-C78229DB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6B4E71"/>
                </a:solidFill>
              </a:defRPr>
            </a:pPr>
            <a:r>
              <a:rPr sz="2100" b="1" i="0">
                <a:solidFill>
                  <a:srgbClr val="6B4E71"/>
                </a:solidFill>
              </a:rPr>
              <a:t>修辞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C663A-7F41-4CDE-9A4B-51B9239B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3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F2325"/>
                </a:solidFill>
              </a:defRPr>
            </a:pPr>
            <a:r>
              <a:rPr sz="1650" b="0" i="0">
                <a:solidFill>
                  <a:srgbClr val="1F2325"/>
                </a:solidFill>
              </a:rPr>
              <a:t>拟人、比喻、引用，让标题更生动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FB27A-49C1-4B57-A558-2DDFD603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52700"/>
            <a:ext cx="4648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4529B-5054-4A70-8C29-A91E0F4C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813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9527A"/>
                </a:solidFill>
              </a:defRPr>
            </a:pPr>
            <a:r>
              <a:rPr sz="2100" b="1" i="0">
                <a:solidFill>
                  <a:srgbClr val="39527A"/>
                </a:solidFill>
              </a:rPr>
              <a:t>悬念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43F09-464A-4FA9-9E0D-C3411DE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F2325"/>
                </a:solidFill>
              </a:defRPr>
            </a:pPr>
            <a:r>
              <a:rPr sz="1650" b="0" i="0">
                <a:solidFill>
                  <a:srgbClr val="1F2325"/>
                </a:solidFill>
              </a:rPr>
              <a:t>让读者想知道“为什么”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CAD49-2951-4396-A28B-3D443F48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48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C71E6-4049-4835-9D99-FE068E8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C6504A"/>
                </a:solidFill>
              </a:defRPr>
            </a:pPr>
            <a:r>
              <a:rPr sz="2100" b="1" i="0">
                <a:solidFill>
                  <a:srgbClr val="C6504A"/>
                </a:solidFill>
              </a:rPr>
              <a:t>情感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ADA75-3736-4250-9D9C-A27A901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767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F2325"/>
                </a:solidFill>
              </a:defRPr>
            </a:pPr>
            <a:r>
              <a:rPr sz="1650" b="0" i="0">
                <a:solidFill>
                  <a:srgbClr val="1F2325"/>
                </a:solidFill>
              </a:rPr>
              <a:t>标题里带着作者的态度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93033-CFB0-4007-91FE-D592166D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4648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D2252-D391-4F3A-991E-55ED5DC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48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E6B67"/>
                </a:solidFill>
              </a:defRPr>
            </a:pPr>
            <a:r>
              <a:rPr sz="2100" b="1" i="0">
                <a:solidFill>
                  <a:srgbClr val="0E6B67"/>
                </a:solidFill>
              </a:rPr>
              <a:t>风格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D48A2-BFB3-423E-A9E6-09B59F0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767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F2325"/>
                </a:solidFill>
              </a:defRPr>
            </a:pPr>
            <a:r>
              <a:rPr sz="1650" b="0" i="0">
                <a:solidFill>
                  <a:srgbClr val="1F2325"/>
                </a:solidFill>
              </a:rPr>
              <a:t>和文章语言气质一致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22F1-8C4B-4F5B-B924-8825D676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C6504A"/>
                </a:solidFill>
              </a:defRPr>
            </a:pPr>
            <a:r>
              <a:rPr sz="1950" b="1" i="0">
                <a:solidFill>
                  <a:srgbClr val="C6504A"/>
                </a:solidFill>
              </a:rPr>
              <a:t>注意：表达效果不能单独写，必须接一句“表现了什么内容或主题”。</a:t>
            </a:r>
          </a:p>
        </p:txBody>
      </p:sp>
    </p:spTree>
    <p:extLst>
      <p:ext uri="{BB962C8B-B14F-4D97-AF65-F5344CB8AC3E}">
        <p14:creationId xmlns:p14="http://schemas.microsoft.com/office/powerpoint/2010/main" val="1657630415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464E8-D884-4566-8768-BE1A7FC9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0FDBB-D067-4F34-B134-02AADA0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F8CD6-421F-4527-80C3-35573AD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93761-6D1A-4BC1-8D1F-4CD55C8C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背模板，但不要死背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18281-A428-4EEA-A517-325CC286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49EA0-4E02-4BDC-9BC9-F452BBC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一段高分理由可以拆成三句话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BC651-0233-4198-8640-57ACF45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公式：标题 + 理由；理由 = 含义 + 作用 + 比较。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BAB87-DC3D-4577-BC3C-ADB9E8B0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175CB-2A53-455B-AFFF-E412CB5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第一句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B2B97-F3AE-4EEF-A041-BBD9A2F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8191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4B9AF-44CE-4429-B109-A0B5B84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194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 i="0">
                <a:solidFill>
                  <a:srgbClr val="1F2325"/>
                </a:solidFill>
              </a:defRPr>
            </a:pPr>
            <a:r>
              <a:rPr sz="1950" b="0" i="0">
                <a:solidFill>
                  <a:srgbClr val="1F2325"/>
                </a:solidFill>
              </a:rPr>
              <a:t>我选择《XX》作为标题。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F1A63-06D8-4C50-AE51-8E8E02C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第二句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07AB3-38DE-424E-97D4-5A5D06E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8191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E507-5521-4C98-BD2F-89F9081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 i="0">
                <a:solidFill>
                  <a:srgbClr val="1F2325"/>
                </a:solidFill>
              </a:defRPr>
            </a:pPr>
            <a:r>
              <a:rPr sz="1950" b="0" i="0">
                <a:solidFill>
                  <a:srgbClr val="1F2325"/>
                </a:solidFill>
              </a:rPr>
              <a:t>文章围绕……展开，标题中的“XX”指向……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DC79A-A993-4164-ACCF-A30CAEB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第三句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BAC17-961C-4708-A5DC-5F410DE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8191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A603B-E05F-4837-BB92-6FA26D8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 i="0">
                <a:solidFill>
                  <a:srgbClr val="1F2325"/>
                </a:solidFill>
              </a:defRPr>
            </a:pPr>
            <a:r>
              <a:rPr sz="1950" b="0" i="0">
                <a:solidFill>
                  <a:srgbClr val="1F2325"/>
                </a:solidFill>
              </a:rPr>
              <a:t>它能表现……主题，并起到……作用；相比《YY》，它更……</a:t>
            </a:r>
          </a:p>
        </p:txBody>
      </p:sp>
    </p:spTree>
    <p:extLst>
      <p:ext uri="{BB962C8B-B14F-4D97-AF65-F5344CB8AC3E}">
        <p14:creationId xmlns:p14="http://schemas.microsoft.com/office/powerpoint/2010/main" val="692285122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8064C-EE84-4079-8E36-848CA729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90AE3-04C7-4DC3-ADAA-98F24F5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2A44-8DD2-4260-BEAC-69C24214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6EFDF-04AF-44B9-BD9A-49FD1C19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例题精讲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25126-BABC-4313-B809-46FFF6E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c6c126e5c43fd"/>
          <a:stretch xmlns:a="http://schemas.openxmlformats.org/drawingml/2006/main"/>
        </p:blipFill>
        <p:spPr>
          <a:xfrm xmlns:a="http://schemas.openxmlformats.org/drawingml/2006/main">
            <a:off x="8496300" y="576965"/>
            <a:ext cx="2286000" cy="6558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003D1-B61A-43A7-9F9F-04A7EC27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先不看答案：两个标题你选哪一个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D5CDB-54D6-4D54-AE12-4D74F84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材料一：父亲、我、师傅林、小周，都围绕乒乓展开。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BCECC-C877-43DB-80BA-9FAE4E9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5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C57A-68C9-4FB8-86C3-9F093F3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38450"/>
            <a:ext cx="4191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D7420-4A52-48C2-AF4E-3751673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765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84DEC-F89A-4E02-B557-CA284E0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384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打乒乓的父亲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D3443-372D-4354-BB64-E85BCDB8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4191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26B60-9F27-41DF-B463-0EADB32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765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D7B82-4E22-4201-A8E0-D328B7A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384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父亲的乒乓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7BC8A-D97C-432B-BD59-7EFDCD80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36C7A-4B2B-4DEC-8243-6815C90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5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1F2325"/>
                </a:solidFill>
              </a:defRPr>
            </a:pPr>
            <a:r>
              <a:rPr sz="1950" b="1" i="0">
                <a:solidFill>
                  <a:srgbClr val="1F2325"/>
                </a:solidFill>
              </a:rPr>
              <a:t>请学生先投票：只凭标题，你觉得哪一个更能罩住全文？</a:t>
            </a:r>
          </a:p>
        </p:txBody>
      </p:sp>
    </p:spTree>
    <p:extLst>
      <p:ext uri="{BB962C8B-B14F-4D97-AF65-F5344CB8AC3E}">
        <p14:creationId xmlns:p14="http://schemas.microsoft.com/office/powerpoint/2010/main" val="1174735898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7E900-18DA-42BE-8256-DAA544E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56C33-FEED-42C2-9EF3-3425BE1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878A-7591-430A-B9E2-AF71A297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BA6D0-5FD3-4B73-B991-CBC3F1A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例题精讲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0C75-669C-42F6-90CD-B8E4C9DE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E26E0-2799-4685-AD0E-113D523C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找线索：乒乓串起两代人的人生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29AE4-EC50-475F-BC10-1BB440E3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这一步决定哪个标题范围更准。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EA996-CD76-44AC-9B21-907C6C4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F5107-E738-4390-9400-9257F9E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241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E9EB4-F492-4FCA-BF47-F52B2F2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39527A"/>
                </a:solidFill>
              </a:defRPr>
            </a:pPr>
            <a:r>
              <a:rPr sz="1875" b="1" i="0">
                <a:solidFill>
                  <a:srgbClr val="39527A"/>
                </a:solidFill>
              </a:rPr>
              <a:t>青年父亲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09DCA-0AAC-460F-9E03-E7287DC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夺冠、意气风发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400BB-5EE2-46AB-A501-BD3E7C2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71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D18C9-7977-49B1-AA08-FDA954C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3241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A107-3A02-4591-9081-A005F6A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E6B67"/>
                </a:solidFill>
              </a:defRPr>
            </a:pPr>
            <a:r>
              <a:rPr sz="1875" b="1" i="0">
                <a:solidFill>
                  <a:srgbClr val="0E6B67"/>
                </a:solidFill>
              </a:rPr>
              <a:t>少年“我”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B4531-8D8A-44F9-BBFD-55D314E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受父亲影响学球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F19A5-D153-4B01-8B55-4E85AE9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71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AFB8C-D010-489E-AFF6-7E4C014E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3241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44D11-160C-4C23-A9D8-F256F8E3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39527A"/>
                </a:solidFill>
              </a:defRPr>
            </a:pPr>
            <a:r>
              <a:rPr sz="1875" b="1" i="0">
                <a:solidFill>
                  <a:srgbClr val="39527A"/>
                </a:solidFill>
              </a:rPr>
              <a:t>工厂时期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8CCCD-A286-4231-9501-9998988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乒乓带来向上力量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D0951-CDB1-4355-9D33-9BAFD64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71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918D4-3FD3-44D1-9B30-70504486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3241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9A58E-4F91-42F3-AD43-F68AA9D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E6B67"/>
                </a:solidFill>
              </a:defRPr>
            </a:pPr>
            <a:r>
              <a:rPr sz="1875" b="1" i="0">
                <a:solidFill>
                  <a:srgbClr val="0E6B67"/>
                </a:solidFill>
              </a:rPr>
              <a:t>老年父亲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C96CB-F6DA-489E-B167-EDF803D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仍以乒乓传递人生态度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3FE45-393B-4799-BF1B-CDDAAB67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929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8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 i="0">
                <a:solidFill>
                  <a:srgbClr val="1F2325"/>
                </a:solidFill>
              </a:defRPr>
            </a:pPr>
            <a:r>
              <a:rPr sz="2400" b="1" i="0">
                <a:solidFill>
                  <a:srgbClr val="1F2325"/>
                </a:solidFill>
              </a:rPr>
              <a:t>“乒乓”不是背景道具，而是线索、情感纽带和人生态度。</a:t>
            </a:r>
          </a:p>
        </p:txBody>
      </p:sp>
    </p:spTree>
    <p:extLst>
      <p:ext uri="{BB962C8B-B14F-4D97-AF65-F5344CB8AC3E}">
        <p14:creationId xmlns:p14="http://schemas.microsoft.com/office/powerpoint/2010/main" val="308798458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BF0E8-E98B-4B52-9EBC-48A2B83E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5E445-237A-4AF9-99BB-98E140A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84EA9-6194-4563-9796-E73B86EF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F8E0-3AC1-442A-A629-8FC1187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例题精讲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D9F83-E2D9-4321-A6DA-98B7D76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8890E-8F0A-4F5B-B1AE-99BEDE8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为什么《父亲的乒乓》更稳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A827D-C42E-493E-8A65-D4AF564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它比“打乒乓的父亲”多罩住了“我”的成长和父子传承。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A5F53-310D-4C6D-8F48-A648648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89066-F9AD-4418-A788-C9EA5D9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BF470-C4C1-491F-9385-E1F2F8B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01316-BE03-46E1-BDA6-2FA5E62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C6504A"/>
                </a:solidFill>
              </a:defRPr>
            </a:pPr>
            <a:r>
              <a:rPr sz="1800" b="1" i="0">
                <a:solidFill>
                  <a:srgbClr val="C6504A"/>
                </a:solidFill>
              </a:rPr>
              <a:t>A《打乒乓的父亲》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ABB84-A7B6-4FE6-BD7D-AEBB70F9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能概括父亲爱打球、球技高，也能表达钦佩。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AE3BE-3808-4D82-8898-1DD2E77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B《父亲的乒乓》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51736-6CD2-4510-A82D-36AC623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“乒乓”串起两代人生，是父子情感和人生态度的纽带。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308BA-1486-42C8-B595-68671C01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8572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FB9D6-2B9F-408D-8669-C12C8E9F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0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0E6B67"/>
                </a:solidFill>
              </a:defRPr>
            </a:pPr>
            <a:r>
              <a:rPr sz="1950" b="1" i="0">
                <a:solidFill>
                  <a:srgbClr val="0E6B67"/>
                </a:solidFill>
              </a:rPr>
              <a:t>高分关键词：线索、两代人生、情感纽带、敢于拼搏、睿智豁达</a:t>
            </a:r>
          </a:p>
        </p:txBody>
      </p:sp>
    </p:spTree>
    <p:extLst>
      <p:ext uri="{BB962C8B-B14F-4D97-AF65-F5344CB8AC3E}">
        <p14:creationId xmlns:p14="http://schemas.microsoft.com/office/powerpoint/2010/main" val="1053307860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67569-63C8-4B00-8353-992755B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FE434-9F63-4F0D-8215-48F847A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7B551-B747-4DF9-8944-77BFE143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5317-5CCB-44F9-A6F4-53BA8D9B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例题精讲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43672-B4B1-47AC-A8F1-A6A6BA3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C2F6D-4637-4540-8991-87B4EB80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同样能选，分数差在理由完整度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AC769-534F-4BD2-AFC9-A58D200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学生最容易丢的是“比较分”和“主题分”。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98A80-2C95-4863-ADB2-41F0E1A2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9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A82F0-2ECB-4A20-BBCE-1B81B7A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0191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DB077-8520-4AE6-BE37-FB9742FE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只写内容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78EB7-6221-4B43-BEA9-40AFD29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1F2325"/>
                </a:solidFill>
              </a:defRPr>
            </a:pPr>
            <a:r>
              <a:rPr sz="1800" b="0" i="0">
                <a:solidFill>
                  <a:srgbClr val="1F2325"/>
                </a:solidFill>
              </a:rPr>
              <a:t>文章写父亲打乒乓，所以选 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F4BA4-F095-44C0-A4C0-203AC47B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687174"/>
                </a:solidFill>
              </a:defRPr>
            </a:pPr>
            <a:r>
              <a:rPr sz="1650" b="0" i="0">
                <a:solidFill>
                  <a:srgbClr val="687174"/>
                </a:solidFill>
              </a:rPr>
              <a:t>低分：停在概括，没说作用。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CE4CE-1DBD-4CAF-8EC6-FCAFA70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0191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397A0-6768-4AAD-96F8-ADEF1788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写出线索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67F02-17F4-437C-9AB4-2DBE447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1F2325"/>
                </a:solidFill>
              </a:defRPr>
            </a:pPr>
            <a:r>
              <a:rPr sz="1800" b="0" i="0">
                <a:solidFill>
                  <a:srgbClr val="1F2325"/>
                </a:solidFill>
              </a:rPr>
              <a:t>“乒乓”贯穿父亲与我的人生经历。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88AB4-12AD-431F-980C-75B37FA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687174"/>
                </a:solidFill>
              </a:defRPr>
            </a:pPr>
            <a:r>
              <a:rPr sz="1650" b="0" i="0">
                <a:solidFill>
                  <a:srgbClr val="687174"/>
                </a:solidFill>
              </a:rPr>
              <a:t>中档：有依据，仍需主题。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C62EA-7F61-488C-BAA7-C6C95A4D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0191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019B5-DF52-4040-89B9-E9553628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写出比较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C9BDB-1422-48A5-87A4-AEC36B4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00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1F2325"/>
                </a:solidFill>
              </a:defRPr>
            </a:pPr>
            <a:r>
              <a:rPr sz="1800" b="0" i="0">
                <a:solidFill>
                  <a:srgbClr val="1F2325"/>
                </a:solidFill>
              </a:rPr>
              <a:t>B 比 A 更能涵盖“我”的成长和父子传承。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B1D27-056D-4F54-B241-F82DEB7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00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C98928"/>
                </a:solidFill>
              </a:defRPr>
            </a:pPr>
            <a:r>
              <a:rPr sz="1650" b="1" i="0">
                <a:solidFill>
                  <a:srgbClr val="C98928"/>
                </a:solidFill>
              </a:rPr>
              <a:t>高分：范围、主题、比较到位</a:t>
            </a:r>
          </a:p>
        </p:txBody>
      </p:sp>
    </p:spTree>
    <p:extLst>
      <p:ext uri="{BB962C8B-B14F-4D97-AF65-F5344CB8AC3E}">
        <p14:creationId xmlns:p14="http://schemas.microsoft.com/office/powerpoint/2010/main" val="181271884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5E54C-A969-403E-92DE-4AF21DF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8B729-2B1B-4188-AC33-3B83FC5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26589-1CCC-4352-9952-09CFABA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D72C2-9571-4298-8B93-F4E10A8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真题演练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C8F99-B65B-403E-9F90-64E374C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7f7d1bab84ac5"/>
          <a:stretch xmlns:a="http://schemas.openxmlformats.org/drawingml/2006/main"/>
        </p:blipFill>
        <p:spPr>
          <a:xfrm xmlns:a="http://schemas.openxmlformats.org/drawingml/2006/main">
            <a:off x="8572500" y="609600"/>
            <a:ext cx="233362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DA66C-AFE7-49C0-A99A-1AEEC38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古村材料：先判断哪个标题更有生命力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BB3C2-E546-4FA5-9E6E-F9152F2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文章从古村遗存、乡风工艺、文旅发展写到“焕彩重生”。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7E750-1AE8-4B7E-A5C4-8D43A6B1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5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11BE6-2E9F-43A3-9DAC-E069CFA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4667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44DF1-0926-40D1-BF22-F9148BA9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1942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5A2DC-E009-44B1-A6FD-EE16CCC1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81325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一个千年古村的苏醒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8B443-E104-446E-9137-287FEA0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4667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228D-F92C-4764-9148-BB7824A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502D6-3AF4-4E4A-85E6-58503C7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千年古村的振兴之路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88528-5D00-42F1-897B-7EEA648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关键词：触目皆石、老榆树、拐弯抹角、锤屋、民宿、文化活动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思考：标题有没有和结尾呼应？有没有表达方式上的加分？</a:t>
            </a:r>
          </a:p>
        </p:txBody>
      </p:sp>
    </p:spTree>
    <p:extLst>
      <p:ext uri="{BB962C8B-B14F-4D97-AF65-F5344CB8AC3E}">
        <p14:creationId xmlns:p14="http://schemas.microsoft.com/office/powerpoint/2010/main" val="134537335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49ECA-9442-4255-93BA-8C9B8029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A542D-2F8B-4DB0-BCF1-D5F58A9D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1DAE-941D-4771-82E1-635C26E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1FB3-58EB-49B9-9BB9-2E270B6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真题演练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79ECA-1421-41FC-AF75-6B61B51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278FE-6AC7-47D0-B21D-4C18BB47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《一个千年古村的苏醒》强在形象和呼应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9AF0F-35BB-46BC-A4D7-E586417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“苏醒”把古村写活，也把保护与发展连在一起。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7E59-9EB8-452F-9DA4-E8B848F5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74B31-0E90-4AD2-924B-9AFE3CD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191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BC4CD-196F-4333-8170-9FAD10F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68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0E6B67"/>
                </a:solidFill>
              </a:defRPr>
            </a:pPr>
            <a:r>
              <a:rPr sz="1950" b="1" i="0">
                <a:solidFill>
                  <a:srgbClr val="0E6B67"/>
                </a:solidFill>
              </a:rPr>
              <a:t>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53816-3ACA-434D-94D4-A51BB66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00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古村从古建筑保护到民宿开发、文化活动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9C91E-E197-4886-B6C1-DC114FD1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191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DD3E-3E2D-42F3-AC70-22134F43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68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39527A"/>
                </a:solidFill>
              </a:defRPr>
            </a:pPr>
            <a:r>
              <a:rPr sz="1950" b="1" i="0">
                <a:solidFill>
                  <a:srgbClr val="39527A"/>
                </a:solidFill>
              </a:rPr>
              <a:t>主题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A5A46-29BF-4F2C-B000-13F3A58B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在传承与创新中焕发生命力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3C563-EC03-4436-9635-2CDBF171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191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76D52-439B-4786-AC81-7A4917D9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0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68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C98928"/>
                </a:solidFill>
              </a:defRPr>
            </a:pPr>
            <a:r>
              <a:rPr sz="1950" b="1" i="0">
                <a:solidFill>
                  <a:srgbClr val="C98928"/>
                </a:solidFill>
              </a:rPr>
              <a:t>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D810A-8BF1-42C2-9274-7C8050A3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29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5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呼应结尾“慢慢醒来，焕彩重生”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EEFF6-0BE5-4AB9-B521-34FE5D6F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191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7F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95745-0861-4AEA-9D5B-F169768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68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6B4E71"/>
                </a:solidFill>
              </a:defRPr>
            </a:pPr>
            <a:r>
              <a:rPr sz="1950" b="1" i="0">
                <a:solidFill>
                  <a:srgbClr val="6B4E71"/>
                </a:solidFill>
              </a:rPr>
              <a:t>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05827-DFDA-4C01-AA28-51853F3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拟人手法，引发读者好奇</a:t>
            </a:r>
          </a:p>
        </p:txBody>
      </p:sp>
    </p:spTree>
    <p:extLst>
      <p:ext uri="{BB962C8B-B14F-4D97-AF65-F5344CB8AC3E}">
        <p14:creationId xmlns:p14="http://schemas.microsoft.com/office/powerpoint/2010/main" val="141097749"/>
      </p:ext>
    </p:extLst>
  </p:cSld>
  <p:transition spd="med" advClick="1">
    <p:fade/>
  </p:transition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E5DA3-86E3-44F1-9B17-4FF2FDBE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7F6A-6A00-49FF-A6DE-EC17E3C3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ED828-4F76-4FBB-A8C7-7FA27951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E1C3F-0449-4B1D-B4C3-FC30D00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真题演练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DD01F-067E-4054-9C87-D82120D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CFB6F-F376-4856-AF7C-7794015C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童话书信材料：两个标题都能答，角度不同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31CB2-5661-4A50-8986-8765E4C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关键看你能否说出各自的角度。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38E5D-1CB1-462F-B5FF-6D7C2F89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F735E-2DB2-4E73-B007-F3A9778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4667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619D0-C6F3-40BE-81AB-F4BFECB6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622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7C92E-4D15-4881-902F-EACB237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24175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让我们成为朋友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34A63-BF4A-42D8-B1DE-04B87E51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667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7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10E31-A6A5-4DEA-8D29-8BACC03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E7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EA7CB-B323-4CD0-B687-B7CBA213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1F2325"/>
                </a:solidFill>
              </a:defRPr>
            </a:pPr>
            <a:r>
              <a:rPr sz="1950" b="1" i="0">
                <a:solidFill>
                  <a:srgbClr val="1F2325"/>
                </a:solidFill>
              </a:rPr>
              <a:t>飞翔的歌唱者和沉默的固守者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A08E3-A457-4E64-87D4-3E8B11A8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88392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491E3-DA4B-411C-8114-A3B1256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0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39527A"/>
                </a:solidFill>
              </a:defRPr>
            </a:pPr>
            <a:r>
              <a:rPr sz="1950" b="1" i="0">
                <a:solidFill>
                  <a:srgbClr val="39527A"/>
                </a:solidFill>
              </a:rPr>
              <a:t>提示：标题一偏“情感愿望”，标题二偏“形象对比与哲理”。</a:t>
            </a:r>
          </a:p>
        </p:txBody>
      </p:sp>
    </p:spTree>
    <p:extLst>
      <p:ext uri="{BB962C8B-B14F-4D97-AF65-F5344CB8AC3E}">
        <p14:creationId xmlns:p14="http://schemas.microsoft.com/office/powerpoint/2010/main" val="406591317"/>
      </p:ext>
    </p:extLst>
  </p:cSld>
  <p:transition spd="med" advClick="1">
    <p:fade/>
  </p:transition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F6CBD-F191-4283-84F3-221B2BA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0B816-54B7-4DDB-A28D-463F0E4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0D2DE-FFFD-4506-9BA5-E8D0262A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BBB54-3F39-468A-9D6A-0BE0893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6B4E71"/>
                </a:solidFill>
              </a:defRPr>
            </a:pPr>
            <a:r>
              <a:rPr sz="1350" b="1" i="0">
                <a:solidFill>
                  <a:srgbClr val="6B4E71"/>
                </a:solidFill>
              </a:rPr>
              <a:t>真题演练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A36C4-F52E-4193-BD73-27C1AFE0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768E6-D4C0-4B96-B1D5-398A534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开放题要写出“我选这个角度”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B5926-255A-4C59-B957-0EE4C848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同一篇文章，可以从情感、形象、哲理三个方向命题。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C30C-28C9-406F-9F8B-02930DD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E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17FF8-AE32-491B-AA7B-0A28C3C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3D0E2-F1B4-41D6-A98B-C88165DD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7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EDF06-0F6F-4FF6-84C5-394D46F7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0E6B67"/>
                </a:solidFill>
              </a:defRPr>
            </a:pPr>
            <a:r>
              <a:rPr sz="1800" b="1" i="0">
                <a:solidFill>
                  <a:srgbClr val="0E6B67"/>
                </a:solidFill>
              </a:rPr>
              <a:t>《让我们成为朋友》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9A25D-1BEC-4F9C-9D83-F9144DA8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紧扣沙粒主动写信、云雀真诚回复，突出沟通与亲近。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A19C2-FB99-412C-B67F-DE02BC5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6B4E71"/>
                </a:solidFill>
              </a:defRPr>
            </a:pPr>
            <a:r>
              <a:rPr sz="1800" b="1" i="0">
                <a:solidFill>
                  <a:srgbClr val="6B4E71"/>
                </a:solidFill>
              </a:rPr>
              <a:t>《飞翔的歌唱者和沉默的固守者》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C5579-8CB6-48AD-A233-AD4DCA27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F2325"/>
                </a:solidFill>
              </a:defRPr>
            </a:pPr>
            <a:r>
              <a:rPr sz="1500" b="0" i="0">
                <a:solidFill>
                  <a:srgbClr val="1F2325"/>
                </a:solidFill>
              </a:rPr>
              <a:t>概括云雀与沙粒的对比，引发对动与静、歌唱与沉默的思考。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664B2-7130-4729-BDC7-4EFF39A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7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 i="0">
                <a:solidFill>
                  <a:srgbClr val="1F2325"/>
                </a:solidFill>
              </a:defRPr>
            </a:pPr>
            <a:r>
              <a:rPr sz="2325" b="1" i="0">
                <a:solidFill>
                  <a:srgbClr val="1F2325"/>
                </a:solidFill>
              </a:rPr>
              <a:t>写法：先承认标题角度，再用文章证据把角度坐实。</a:t>
            </a:r>
          </a:p>
        </p:txBody>
      </p:sp>
    </p:spTree>
    <p:extLst>
      <p:ext uri="{BB962C8B-B14F-4D97-AF65-F5344CB8AC3E}">
        <p14:creationId xmlns:p14="http://schemas.microsoft.com/office/powerpoint/2010/main" val="2141864579"/>
      </p:ext>
    </p:extLst>
  </p:cSld>
  <p:transition spd="med" advClick="1">
    <p:fade/>
  </p:transition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23449-6E4E-4D4B-BCF0-862E999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3D33D-3CAB-4271-AA7C-D48F3B8A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13326-85DB-44B3-B1CC-0DC9A87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E02F8-F633-49EC-8B60-3E7E58A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真题演练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65DE7-2B7F-4972-A217-CA5E3A8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B321C-CBEC-473A-BAD9-EDF1629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文艺标题未必更好，要看统领力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C7F88-E682-46F1-A838-95BA1E4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《人间有味是清欢》很美，但未必比《大地的滋味》更稳。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B3EFF-FAC7-4049-8550-040D3C07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9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71079-B8A1-4650-BFDD-6E224FF9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4191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6B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5921-B01E-44DE-B637-706A96B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1942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原题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8FBD5-69CA-4CE8-A624-239DAEA9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大地的滋味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EA6F8-0F1A-4C1D-98FB-C6F5E40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4191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9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DC3E8-DC96-4AC1-89B1-618AD17B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19425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改题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750E4-14CD-4A33-A73A-C6AD53C3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8132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人间有味是清欢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F7974-0F3B-4F0D-AC69-21073899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00">
                <a:solidFill>
                  <a:srgbClr val="1F2325"/>
                </a:solidFill>
              </a:defRPr>
            </a:pPr>
            <a:r>
              <a:rPr sz="1800">
                <a:solidFill>
                  <a:srgbClr val="1F2325"/>
                </a:solidFill>
              </a:rPr>
              <a:t>原题统领五味，也能在结尾升华为“人生滋味”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800">
                <a:solidFill>
                  <a:srgbClr val="1F2325"/>
                </a:solidFill>
              </a:defRPr>
            </a:pPr>
            <a:r>
              <a:rPr sz="1800">
                <a:solidFill>
                  <a:srgbClr val="1F2325"/>
                </a:solidFill>
              </a:rPr>
              <a:t>改题有引用和文采，但要说明它如何概括五味与清欢</a:t>
            </a:r>
          </a:p>
        </p:txBody>
      </p:sp>
    </p:spTree>
    <p:extLst>
      <p:ext uri="{BB962C8B-B14F-4D97-AF65-F5344CB8AC3E}">
        <p14:creationId xmlns:p14="http://schemas.microsoft.com/office/powerpoint/2010/main" val="224615381"/>
      </p:ext>
    </p:extLst>
  </p:cSld>
  <p:transition spd="med" advClick="1">
    <p:fade/>
  </p:transition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8AE8C-AC70-4D3A-B34F-E6E87A4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05407-9D4A-43E0-B52B-50B897B4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F0F39-10C6-436A-B5BC-931872D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B1CFF-2D09-4A24-A118-7DC986D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方法归纳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4B5B5-B7A1-4881-9890-DA62F49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21829-3C0D-44A1-B82E-5FAA5878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标题作用库：写理由时从这些角度选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1EA31-B560-43BA-AD75-B2AF5FE0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不必全写，命中两到三条并结合文本即可。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C7ED-4446-4F3E-8BB3-9A76BAD0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A4FEE-88E1-4AC8-9C5F-2C76A8F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694BB-7F59-4693-9280-E1C8BD1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E6B67"/>
                </a:solidFill>
              </a:defRPr>
            </a:pPr>
            <a:r>
              <a:rPr sz="1875" b="1" i="0">
                <a:solidFill>
                  <a:srgbClr val="0E6B67"/>
                </a:solidFill>
              </a:rPr>
              <a:t>概括内容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DF552-0F75-43FF-A1AF-FF51E07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写了什么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266C4-E636-4192-B764-4F1B509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7650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7BBE2-C699-4182-8714-927C94B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67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39527A"/>
                </a:solidFill>
              </a:defRPr>
            </a:pPr>
            <a:r>
              <a:rPr sz="1875" b="1" i="0">
                <a:solidFill>
                  <a:srgbClr val="39527A"/>
                </a:solidFill>
              </a:rPr>
              <a:t>作为线索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49E46-6AC0-4B24-9F82-ED6EAD7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480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串起全文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F2528-F7B9-4EF9-8CA6-43E3B396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A384-8CEA-47FC-80E1-EDA5FE29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C6504A"/>
                </a:solidFill>
              </a:defRPr>
            </a:pPr>
            <a:r>
              <a:rPr sz="1875" b="1" i="0">
                <a:solidFill>
                  <a:srgbClr val="C6504A"/>
                </a:solidFill>
              </a:rPr>
              <a:t>揭示主题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E65A3-68DE-4AC1-A9A7-DE94E5D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为什么写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56791-845A-47B8-900F-F8047F1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7650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352F7-89BD-4FD6-8570-A200C8F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67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C98928"/>
                </a:solidFill>
              </a:defRPr>
            </a:pPr>
            <a:r>
              <a:rPr sz="1875" b="1" i="0">
                <a:solidFill>
                  <a:srgbClr val="C98928"/>
                </a:solidFill>
              </a:rPr>
              <a:t>表达情感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F3370-86B0-4707-9BC1-A6BD4DAE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480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作者态度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AC3D3-950E-4B70-B226-10C927D7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3E3E3-A201-4DC5-831B-373F1EA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E6B67"/>
                </a:solidFill>
              </a:defRPr>
            </a:pPr>
            <a:r>
              <a:rPr sz="1875" b="1" i="0">
                <a:solidFill>
                  <a:srgbClr val="0E6B67"/>
                </a:solidFill>
              </a:rPr>
              <a:t>设置悬念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CC2B9-D4F0-47A2-8A0B-7A60405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吸引阅读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98C40-46E4-4B4F-BC61-7B4E570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90525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17561-B2BC-44BB-AF6C-01016AD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39527A"/>
                </a:solidFill>
              </a:defRPr>
            </a:pPr>
            <a:r>
              <a:rPr sz="1875" b="1" i="0">
                <a:solidFill>
                  <a:srgbClr val="39527A"/>
                </a:solidFill>
              </a:rPr>
              <a:t>运用修辞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6576D-DA79-4AE1-A754-A0D446E5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76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生动形象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28486-5D92-4D22-9064-FCD563B1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A2308-B9BB-478B-965C-A063EC4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C6504A"/>
                </a:solidFill>
              </a:defRPr>
            </a:pPr>
            <a:r>
              <a:rPr sz="1875" b="1" i="0">
                <a:solidFill>
                  <a:srgbClr val="C6504A"/>
                </a:solidFill>
              </a:rPr>
              <a:t>呼应结构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263C2-A8AD-42E2-ADC2-03B8A6A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开头结尾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F6AC2-B6C1-4524-86F1-9916157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05250"/>
            <a:ext cx="2286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F9CF6B-4D00-4BB3-85AA-5F8D6F0C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1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C98928"/>
                </a:solidFill>
              </a:defRPr>
            </a:pPr>
            <a:r>
              <a:rPr sz="1875" b="1" i="0">
                <a:solidFill>
                  <a:srgbClr val="C98928"/>
                </a:solidFill>
              </a:rPr>
              <a:t>体现风格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FB5C4-6207-4567-A929-3D97DA6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79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687174"/>
                </a:solidFill>
              </a:defRPr>
            </a:pPr>
            <a:r>
              <a:rPr sz="1350" b="0" i="0">
                <a:solidFill>
                  <a:srgbClr val="687174"/>
                </a:solidFill>
              </a:rPr>
              <a:t>和语言一致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22672-0E14-490B-B24A-FCC65AB4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5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1F2325"/>
                </a:solidFill>
              </a:defRPr>
            </a:pPr>
            <a:r>
              <a:rPr sz="2250" b="1" i="0">
                <a:solidFill>
                  <a:srgbClr val="1F2325"/>
                </a:solidFill>
              </a:rPr>
              <a:t>高分答案 = 作用词 + 文本证据 + 标题比较</a:t>
            </a:r>
          </a:p>
        </p:txBody>
      </p:sp>
    </p:spTree>
    <p:extLst>
      <p:ext uri="{BB962C8B-B14F-4D97-AF65-F5344CB8AC3E}">
        <p14:creationId xmlns:p14="http://schemas.microsoft.com/office/powerpoint/2010/main" val="1750253364"/>
      </p:ext>
    </p:extLst>
  </p:cSld>
  <p:transition spd="med" advClick="1">
    <p:fade/>
  </p:transition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3FBCE-A07E-42B3-A207-3681AD13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E792D-A3C1-4683-808B-DD9A79D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AA702-6BBB-425C-B615-8365BB1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744B6-49CC-4A87-87F9-957029E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答案表达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85EAA-7192-4BD5-8D1C-5ABB2CBB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F30AC-AA68-4C52-9E9D-BB3034B4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高分模板不是背句子，是拼证据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D73F6-640E-4398-9F88-4567A0F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把四把尺子放进三句话里。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3CD4F-9EF3-4F6F-9685-7FC5B23A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081B6-3141-4696-ACB9-79C8FF8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03632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6851A-DCEB-4727-8E91-6472072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962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025">
                <a:solidFill>
                  <a:srgbClr val="1F2325"/>
                </a:solidFill>
              </a:defRPr>
            </a:pPr>
            <a:r>
              <a:rPr sz="2025" b="1">
                <a:solidFill>
                  <a:srgbClr val="1F2325"/>
                </a:solidFill>
              </a:rPr>
              <a:t>我选择《XX》。</a:t>
            </a:r>
            <a:r>
              <a:rPr sz="2025">
                <a:solidFill>
                  <a:srgbClr val="1F2325"/>
                </a:solidFill>
              </a:rPr>
              <a:t>文章围绕……展开，标题中的“XX”既指……，也指……。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>
                <a:solidFill>
                  <a:srgbClr val="1F2325"/>
                </a:solidFill>
              </a:defRPr>
            </a:pPr>
            <a:r>
              <a:rPr sz="2025" b="1">
                <a:solidFill>
                  <a:srgbClr val="1F2325"/>
                </a:solidFill>
              </a:rPr>
              <a:t>从内容看，</a:t>
            </a:r>
            <a:r>
              <a:rPr sz="2025">
                <a:solidFill>
                  <a:srgbClr val="1F2325"/>
                </a:solidFill>
              </a:rPr>
              <a:t>它概括了……；从主题看，它表现了……。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>
                <a:solidFill>
                  <a:srgbClr val="1F2325"/>
                </a:solidFill>
              </a:defRPr>
            </a:pPr>
            <a:r>
              <a:rPr sz="2025" b="1">
                <a:solidFill>
                  <a:srgbClr val="1F2325"/>
                </a:solidFill>
              </a:rPr>
              <a:t>同时，</a:t>
            </a:r>
            <a:r>
              <a:rPr sz="2025">
                <a:solidFill>
                  <a:srgbClr val="1F2325"/>
                </a:solidFill>
              </a:rPr>
              <a:t>它还起到……作用。相比《YY》，《XX》更能……。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09B58-127C-45F6-B249-5138302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3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C6504A"/>
                </a:solidFill>
              </a:defRPr>
            </a:pPr>
            <a:r>
              <a:rPr sz="2100" b="1" i="0">
                <a:solidFill>
                  <a:srgbClr val="C6504A"/>
                </a:solidFill>
              </a:rPr>
              <a:t>最后一句比较，往往就是拉开分数的地方。</a:t>
            </a:r>
          </a:p>
        </p:txBody>
      </p:sp>
    </p:spTree>
    <p:extLst>
      <p:ext uri="{BB962C8B-B14F-4D97-AF65-F5344CB8AC3E}">
        <p14:creationId xmlns:p14="http://schemas.microsoft.com/office/powerpoint/2010/main" val="183753695"/>
      </p:ext>
    </p:extLst>
  </p:cSld>
  <p:transition spd="med" advClick="1">
    <p:fade/>
  </p:transition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16E1D-1232-4C3E-8642-CD51B407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0D982-4F9F-4756-B877-B7EB16F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FDDDC-6308-49E7-8437-A2F0F19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27DAD-DA96-4C55-8A9F-BC438C2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6504A"/>
                </a:solidFill>
              </a:defRPr>
            </a:pPr>
            <a:r>
              <a:rPr sz="1350" b="1" i="0">
                <a:solidFill>
                  <a:srgbClr val="C6504A"/>
                </a:solidFill>
              </a:rPr>
              <a:t>避坑提醒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AD83A-6067-4E78-A43E-5FA7E61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292F7-68E1-4CBE-9D72-8CB9732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四个常见扣分点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BDB9C-E475-4F72-B210-151EB677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扣分通常不是因为选错，而是因为理由太空。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98BF1-2CCA-42D7-8E1A-88FA6F7B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5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592B6-88CA-4397-A1F5-E9A7763E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坑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5C022-DA20-4BED-A61E-CBE7501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9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只说“吸引读者兴趣”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7559-F0DB-4356-943E-B6842FA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687174"/>
                </a:solidFill>
              </a:defRPr>
            </a:pPr>
            <a:r>
              <a:rPr sz="1725" b="0" i="0">
                <a:solidFill>
                  <a:srgbClr val="687174"/>
                </a:solidFill>
              </a:rPr>
              <a:t>没有说明吸引读者关注什么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17D85-F2B7-4568-85D2-FC65F8D9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F23CE-86B2-45DC-9E35-93C65FE6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坑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92DB2-E084-41C1-A5BA-0979E5E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52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9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只概括内容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6E191-6AFE-4BC1-884C-42C756B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687174"/>
                </a:solidFill>
              </a:defRPr>
            </a:pPr>
            <a:r>
              <a:rPr sz="1725" b="0" i="0">
                <a:solidFill>
                  <a:srgbClr val="687174"/>
                </a:solidFill>
              </a:rPr>
              <a:t>没有主题、结构或表达作用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32792-5714-487D-8B6A-C6A593D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C409F-8789-4086-B102-19E2CAA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坑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C0CE0-A127-4F1C-B597-C6E54D68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10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9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不比较另一个标题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AB4C4-5A07-4715-A3FF-52C4170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687174"/>
                </a:solidFill>
              </a:defRPr>
            </a:pPr>
            <a:r>
              <a:rPr sz="1725" b="0" i="0">
                <a:solidFill>
                  <a:srgbClr val="687174"/>
                </a:solidFill>
              </a:rPr>
              <a:t>开放题尤其容易少一层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49632-1907-4477-A092-BE98D196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2E54E-9171-47A6-8714-2A30AD6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0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坑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3284F-E169-4058-9222-755EE2B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67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9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1F2325"/>
                </a:solidFill>
              </a:defRPr>
            </a:pPr>
            <a:r>
              <a:rPr sz="1875" b="1" i="0">
                <a:solidFill>
                  <a:srgbClr val="1F2325"/>
                </a:solidFill>
              </a:rPr>
              <a:t>套模板脱离文本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898FA-C132-4182-87B5-F3CA35C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86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687174"/>
                </a:solidFill>
              </a:defRPr>
            </a:pPr>
            <a:r>
              <a:rPr sz="1725" b="0" i="0">
                <a:solidFill>
                  <a:srgbClr val="687174"/>
                </a:solidFill>
              </a:rPr>
              <a:t>没有关键词、情节或结尾依据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7FB1A-4DC0-460A-84EF-007AC48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6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9506771"/>
      </p:ext>
    </p:extLst>
  </p:cSld>
  <p:transition spd="med" advClick="1">
    <p:fade/>
  </p:transition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BAD59-47AB-42DA-A823-1995E2F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59CF-0960-4D70-89B5-6F154B4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5468-3DC0-48C2-ACB2-7DAB32BC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730BF-A15C-4C95-9173-A242894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6B67"/>
                </a:solidFill>
              </a:defRPr>
            </a:pPr>
            <a:r>
              <a:rPr sz="1350" b="1" i="0">
                <a:solidFill>
                  <a:srgbClr val="0E6B67"/>
                </a:solidFill>
              </a:rPr>
              <a:t>实战流程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B40D1-844A-4B11-8EE8-FEE6AB26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629FC-09F9-4497-9770-9C8BF6D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90 秒实战流程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88AE-6820-43FC-B687-ED189F10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考试时先找证据，再组织语言。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82807-741D-4CFF-8815-0047B490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6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B2854-E786-4BA5-B0C9-D3495D5B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095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14393-3547-47EC-BFCA-7140715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5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15 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70673-7EFD-423D-88B6-0E322A2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圈两个标题的关键词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07B9B-D665-495E-BA26-17E078A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2095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5485-C65B-400B-94FF-6051DDC1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5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25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730B4-9E3B-42A2-BCE1-17854D6E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找文章反复出现的人、物、事、情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8E421-A6C0-46C9-9152-6BE926D2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095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DFF1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2F6B5-E7E7-496E-B4DB-58467C6D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5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25 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15DCE-703B-418A-A7BB-4D1A8A8D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看开头结尾，判断线索和主题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101AC-C69B-4B7F-80EA-E1F15496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095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336B7-2AE7-4178-B20D-968F935D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5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0E6B67"/>
                </a:solidFill>
              </a:defRPr>
            </a:pPr>
            <a:r>
              <a:rPr sz="2250" b="1" i="0">
                <a:solidFill>
                  <a:srgbClr val="0E6B67"/>
                </a:solidFill>
              </a:rPr>
              <a:t>25 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32C2E-409A-412A-A867-73F50A20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0" i="0">
                <a:solidFill>
                  <a:srgbClr val="1F2325"/>
                </a:solidFill>
              </a:defRPr>
            </a:pPr>
            <a:r>
              <a:rPr sz="1575" b="0" i="0">
                <a:solidFill>
                  <a:srgbClr val="1F2325"/>
                </a:solidFill>
              </a:rPr>
              <a:t>写出选择，并比较另一个标题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2DA9F-EB86-4DAA-9F68-D0A86B6D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340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1F2325"/>
                </a:solidFill>
              </a:defRPr>
            </a:pPr>
            <a:r>
              <a:rPr sz="2550" b="1" i="0">
                <a:solidFill>
                  <a:srgbClr val="1F2325"/>
                </a:solidFill>
              </a:rPr>
              <a:t>先找准，再写满；先比较，再下结论。</a:t>
            </a:r>
          </a:p>
        </p:txBody>
      </p:sp>
    </p:spTree>
    <p:extLst>
      <p:ext uri="{BB962C8B-B14F-4D97-AF65-F5344CB8AC3E}">
        <p14:creationId xmlns:p14="http://schemas.microsoft.com/office/powerpoint/2010/main" val="511093432"/>
      </p:ext>
    </p:extLst>
  </p:cSld>
  <p:transition spd="med" advClick="1">
    <p:fade/>
  </p:transition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CFA72-A703-489D-B402-8726138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EAE7A-E81A-440B-9A5A-C5EBC1D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EFA4-0F4F-4BAB-9A61-BE02D3B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C996A-AED2-4467-BCF7-66F640E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C98928"/>
                </a:solidFill>
              </a:defRPr>
            </a:pPr>
            <a:r>
              <a:rPr sz="1350" b="1" i="0">
                <a:solidFill>
                  <a:srgbClr val="C98928"/>
                </a:solidFill>
              </a:rPr>
              <a:t>巩固练习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1FFCD-9CEB-445F-9FB0-2974C83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23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29789b74a4c73"/>
          <a:stretch xmlns:a="http://schemas.openxmlformats.org/drawingml/2006/main"/>
        </p:blipFill>
        <p:spPr>
          <a:xfrm xmlns:a="http://schemas.openxmlformats.org/drawingml/2006/main">
            <a:off x="8572500" y="591834"/>
            <a:ext cx="2286000" cy="6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6D3E-7F27-4FEB-9600-73EBA98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课堂即时练：用一句话先定方向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8D768-D29F-468C-BD61-514961DA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不急着写满分答案，先判断标题角度。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43CD1-7A40-4FBA-B951-618FC81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9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B9A10-2B07-449F-ABBD-2E59DB58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8577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2ED47-60D7-4E3A-895A-5F7F61E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4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C98928"/>
                </a:solidFill>
              </a:defRPr>
            </a:pPr>
            <a:r>
              <a:rPr sz="1950" b="1" i="0">
                <a:solidFill>
                  <a:srgbClr val="C98928"/>
                </a:solidFill>
              </a:rPr>
              <a:t>练习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FD720-AA10-4F33-BB2C-B889F054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4038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1F2325"/>
                </a:solidFill>
              </a:defRPr>
            </a:pPr>
            <a:r>
              <a:rPr sz="1800" b="0" i="0">
                <a:solidFill>
                  <a:srgbClr val="1F2325"/>
                </a:solidFill>
              </a:rPr>
              <a:t>标题一更侧重“内容线索”，标题二更侧重“主题升华”。请各写一句理由。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526A2-EBD6-4DA9-92AA-B999DDF4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8577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D84A9-1886-4D5E-8649-9C1DA89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4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0E6B67"/>
                </a:solidFill>
              </a:defRPr>
            </a:pPr>
            <a:r>
              <a:rPr sz="1950" b="1" i="0">
                <a:solidFill>
                  <a:srgbClr val="0E6B67"/>
                </a:solidFill>
              </a:rPr>
              <a:t>练习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AA6B5-70ED-4824-B45B-1C83060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4038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 i="0">
                <a:solidFill>
                  <a:srgbClr val="1F2325"/>
                </a:solidFill>
              </a:defRPr>
            </a:pPr>
            <a:r>
              <a:rPr sz="1800" b="0" i="0">
                <a:solidFill>
                  <a:srgbClr val="1F2325"/>
                </a:solidFill>
              </a:rPr>
              <a:t>把刚才四篇材料任选一篇，补一句“相比另一个标题，它更……”。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CAB4E-1F3D-4CA7-84AC-6EC7F0B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34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C6504A"/>
                </a:solidFill>
              </a:defRPr>
            </a:pPr>
            <a:r>
              <a:rPr sz="2250" b="1" i="0">
                <a:solidFill>
                  <a:srgbClr val="C6504A"/>
                </a:solidFill>
              </a:rPr>
              <a:t>出口卡：今天你记住的标题作用词是哪三个？</a:t>
            </a:r>
          </a:p>
        </p:txBody>
      </p:sp>
    </p:spTree>
    <p:extLst>
      <p:ext uri="{BB962C8B-B14F-4D97-AF65-F5344CB8AC3E}">
        <p14:creationId xmlns:p14="http://schemas.microsoft.com/office/powerpoint/2010/main" val="1590378767"/>
      </p:ext>
    </p:extLst>
  </p:cSld>
  <p:transition spd="med" advClick="1">
    <p:fade/>
  </p:transition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059DA-8226-4514-9946-A70D95A8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7E68-544A-47F3-B7A5-9B760AA7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52BE0-8423-4DC7-82E5-B867D6A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7EF42-B25D-477C-9561-C7D3B9D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9527A"/>
                </a:solidFill>
              </a:defRPr>
            </a:pPr>
            <a:r>
              <a:rPr sz="1350" b="1" i="0">
                <a:solidFill>
                  <a:srgbClr val="39527A"/>
                </a:solidFill>
              </a:rPr>
              <a:t>板书与作业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2AAC-F3F2-4390-9F36-42411BFD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687174"/>
                </a:solidFill>
              </a:defRPr>
            </a:pPr>
            <a:r>
              <a:rPr sz="1200" b="0" i="0">
                <a:solidFill>
                  <a:srgbClr val="687174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EA874-8AF7-4AC4-A012-920E2F47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F2325"/>
                </a:solidFill>
              </a:defRPr>
            </a:pPr>
            <a:r>
              <a:rPr sz="3150" b="1" i="0">
                <a:solidFill>
                  <a:srgbClr val="1F2325"/>
                </a:solidFill>
              </a:rPr>
              <a:t>板书：标题题四维三步法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E0263-2297-4D22-9ADC-AC4B8A2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87174"/>
                </a:solidFill>
              </a:defRPr>
            </a:pPr>
            <a:r>
              <a:rPr sz="1575" b="0" i="0">
                <a:solidFill>
                  <a:srgbClr val="687174"/>
                </a:solidFill>
              </a:rPr>
              <a:t>把方法留在黑板上，也留在答题纸上。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3630-ABB0-43BD-93C5-7AE2065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F93B2-C3FA-43D8-AC17-EEBF5D32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953000" cy="2705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5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5258-9CF7-4E4C-894C-2DE028D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9527A"/>
                </a:solidFill>
              </a:defRPr>
            </a:pPr>
            <a:r>
              <a:rPr sz="2100" b="1" i="0">
                <a:solidFill>
                  <a:srgbClr val="39527A"/>
                </a:solidFill>
              </a:rPr>
              <a:t>板书设计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ABF94-A49A-48F5-849D-9249ACA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161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三步：读大意 → 找关键词 → 选标题写理由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四维：内容 / 主题 / 结构 / 表达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一句比较：相比另一个标题，它更……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25A10-AB61-4C43-8076-C590FBC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4857750" cy="2705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E7EC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9BB8A-D572-4FD6-8C43-7B8D84D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E6B67"/>
                </a:solidFill>
              </a:defRPr>
            </a:pPr>
            <a:r>
              <a:rPr sz="2100" b="1" i="0">
                <a:solidFill>
                  <a:srgbClr val="0E6B67"/>
                </a:solidFill>
              </a:rPr>
              <a:t>课后任务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6DC2-2D0B-475C-8ED7-42C1D1F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6924"/>
          </a:bodyPr>
          <a:lstStyle xmlns:a="http://schemas.openxmlformats.org/drawingml/2006/main"/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从四篇材料中任选一题，写一段 5-6 分答案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必须包含：文本依据 + 标题作用 + 与另一标题比较</a:t>
            </a:r>
          </a:p>
          <a:p xmlns:a="http://schemas.openxmlformats.org/drawingml/2006/main">
            <a:pPr marL="20" indent="-10">
              <a:lnSpc>
                <a:spcPct val="120000"/>
              </a:lnSpc>
              <a:spcAft>
                <a:spcPts val="7"/>
              </a:spcAft>
              <a:buNone/>
              <a:defRPr sz="1725">
                <a:solidFill>
                  <a:srgbClr val="1F2325"/>
                </a:solidFill>
              </a:defRPr>
            </a:pPr>
            <a:r>
              <a:rPr sz="1725">
                <a:solidFill>
                  <a:srgbClr val="1F2325"/>
                </a:solidFill>
              </a:rPr>
              <a:t>用红笔圈出自己使用的标题作用词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B7CFC-60FD-4ECF-A74F-E394BD1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531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0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1F2325"/>
                </a:solidFill>
              </a:defRPr>
            </a:pPr>
            <a:r>
              <a:rPr sz="2550" b="1" i="0">
                <a:solidFill>
                  <a:srgbClr val="1F2325"/>
                </a:solidFill>
              </a:rPr>
              <a:t>标题不是文章的门牌，是文章的提灯。</a:t>
            </a:r>
          </a:p>
        </p:txBody>
      </p:sp>
    </p:spTree>
    <p:extLst>
      <p:ext uri="{BB962C8B-B14F-4D97-AF65-F5344CB8AC3E}">
        <p14:creationId xmlns:p14="http://schemas.microsoft.com/office/powerpoint/2010/main" val="1235659537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2026-07-14T16:09:16.4630000Z</dcterms:created>
  <dcterms:modified xsi:type="dcterms:W3CDTF">2026-07-14T16:09:16.4630000Z</dcterms:modified>
</coreProperties>
</file>